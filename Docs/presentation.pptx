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51" d="100"/>
          <a:sy n="151" d="100"/>
        </p:scale>
        <p:origin x="5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1" anchor="t" anchorCtr="0">
            <a:noAutofit/>
          </a:bodyPr>
          <a:lstStyle>
            <a:lvl1pPr marR="457200" lvl="0" indent="298450" algn="r" rtl="1">
              <a:spcBef>
                <a:spcPts val="0"/>
              </a:spcBef>
              <a:spcAft>
                <a:spcPts val="0"/>
              </a:spcAft>
              <a:buSzPts val="1100"/>
              <a:buChar char="●"/>
              <a:defRPr lang="he-IL" sz="1100">
                <a:latin typeface="Arial"/>
                <a:ea typeface="Arial"/>
                <a:cs typeface="Arial"/>
              </a:defRPr>
            </a:lvl1pPr>
            <a:lvl2pPr marR="914400" lvl="1" indent="298450" algn="r" rtl="1">
              <a:spcBef>
                <a:spcPts val="0"/>
              </a:spcBef>
              <a:spcAft>
                <a:spcPts val="0"/>
              </a:spcAft>
              <a:buSzPts val="1100"/>
              <a:buChar char="○"/>
              <a:defRPr lang="he-IL" sz="1100">
                <a:latin typeface="Arial"/>
                <a:ea typeface="Arial"/>
                <a:cs typeface="Arial"/>
              </a:defRPr>
            </a:lvl2pPr>
            <a:lvl3pPr marR="1371600" lvl="2" indent="298450" algn="r" rtl="1">
              <a:spcBef>
                <a:spcPts val="0"/>
              </a:spcBef>
              <a:spcAft>
                <a:spcPts val="0"/>
              </a:spcAft>
              <a:buSzPts val="1100"/>
              <a:buChar char="■"/>
              <a:defRPr lang="he-IL" sz="1100">
                <a:latin typeface="Arial"/>
                <a:ea typeface="Arial"/>
                <a:cs typeface="Arial"/>
              </a:defRPr>
            </a:lvl3pPr>
            <a:lvl4pPr marR="1828800" lvl="3" indent="298450" algn="r" rtl="1">
              <a:spcBef>
                <a:spcPts val="0"/>
              </a:spcBef>
              <a:spcAft>
                <a:spcPts val="0"/>
              </a:spcAft>
              <a:buSzPts val="1100"/>
              <a:buChar char="●"/>
              <a:defRPr lang="he-IL" sz="1100">
                <a:latin typeface="Arial"/>
                <a:ea typeface="Arial"/>
                <a:cs typeface="Arial"/>
              </a:defRPr>
            </a:lvl4pPr>
            <a:lvl5pPr marR="2286000" lvl="4" indent="298450" algn="r" rtl="1">
              <a:spcBef>
                <a:spcPts val="0"/>
              </a:spcBef>
              <a:spcAft>
                <a:spcPts val="0"/>
              </a:spcAft>
              <a:buSzPts val="1100"/>
              <a:buChar char="○"/>
              <a:defRPr lang="he-IL" sz="1100">
                <a:latin typeface="Arial"/>
                <a:ea typeface="Arial"/>
                <a:cs typeface="Arial"/>
              </a:defRPr>
            </a:lvl5pPr>
            <a:lvl6pPr marR="2743200" lvl="5" indent="298450" algn="r" rtl="1">
              <a:spcBef>
                <a:spcPts val="0"/>
              </a:spcBef>
              <a:spcAft>
                <a:spcPts val="0"/>
              </a:spcAft>
              <a:buSzPts val="1100"/>
              <a:buChar char="■"/>
              <a:defRPr lang="he-IL" sz="1100">
                <a:latin typeface="Arial"/>
                <a:ea typeface="Arial"/>
                <a:cs typeface="Arial"/>
              </a:defRPr>
            </a:lvl6pPr>
            <a:lvl7pPr marR="3200400" lvl="6" indent="298450" algn="r" rtl="1">
              <a:spcBef>
                <a:spcPts val="0"/>
              </a:spcBef>
              <a:spcAft>
                <a:spcPts val="0"/>
              </a:spcAft>
              <a:buSzPts val="1100"/>
              <a:buChar char="●"/>
              <a:defRPr lang="he-IL" sz="1100">
                <a:latin typeface="Arial"/>
                <a:ea typeface="Arial"/>
                <a:cs typeface="Arial"/>
              </a:defRPr>
            </a:lvl7pPr>
            <a:lvl8pPr marR="3657600" lvl="7" indent="298450" algn="r" rtl="1">
              <a:spcBef>
                <a:spcPts val="0"/>
              </a:spcBef>
              <a:spcAft>
                <a:spcPts val="0"/>
              </a:spcAft>
              <a:buSzPts val="1100"/>
              <a:buChar char="○"/>
              <a:defRPr lang="he-IL" sz="1100">
                <a:latin typeface="Arial"/>
                <a:ea typeface="Arial"/>
                <a:cs typeface="Arial"/>
              </a:defRPr>
            </a:lvl8pPr>
            <a:lvl9pPr marR="4114800" lvl="8" indent="298450" algn="r" rtl="1">
              <a:spcBef>
                <a:spcPts val="0"/>
              </a:spcBef>
              <a:spcAft>
                <a:spcPts val="0"/>
              </a:spcAft>
              <a:buSzPts val="1100"/>
              <a:buChar char="■"/>
              <a:defRPr lang="he-IL" sz="11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b37a7ffc4_1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b37a7ffc4_1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b37a7ffc4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b37a7ffc4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b37a7ffc4_1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b37a7ffc4_1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b37a7ffc4_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b37a7ffc4_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b37a7ffc4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b37a7ffc4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b37a7ffc4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b37a7ffc4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b37a7ffc4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b37a7ffc4_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b37a7ffc4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fb37a7ffc4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37a7ffc4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b37a7ffc4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fb37a7ffc4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fb37a7ffc4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b37a7ffc4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b37a7ffc4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b37a7ffc4_2_0)">
  <p:cSld name="Generated (g3fb37a7ffc4_2_0)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rtlCol="1" anchor="b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5200"/>
              <a:buNone/>
              <a:defRPr lang="he-IL" sz="52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he-IL" sz="28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3600"/>
              <a:buNone/>
              <a:defRPr lang="he-IL" sz="36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marR="457200" lvl="0" indent="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he-IL">
                <a:latin typeface="Arial"/>
                <a:ea typeface="Arial"/>
                <a:cs typeface="Arial"/>
              </a:defRPr>
            </a:lvl1pPr>
            <a:lvl2pPr marR="914400" lvl="1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2pPr>
            <a:lvl3pPr marR="1371600" lvl="2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3pPr>
            <a:lvl4pPr marR="1828800" lvl="3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he-IL">
                <a:latin typeface="Arial"/>
                <a:ea typeface="Arial"/>
                <a:cs typeface="Arial"/>
              </a:defRPr>
            </a:lvl4pPr>
            <a:lvl5pPr marR="2286000" lvl="4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5pPr>
            <a:lvl6pPr marR="2743200" lvl="5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6pPr>
            <a:lvl7pPr marR="3200400" lvl="6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he-IL">
                <a:latin typeface="Arial"/>
                <a:ea typeface="Arial"/>
                <a:cs typeface="Arial"/>
              </a:defRPr>
            </a:lvl7pPr>
            <a:lvl8pPr marR="3657600" lvl="7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8pPr>
            <a:lvl9pPr marR="4114800" lvl="8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marR="457200" lvl="0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he-IL" sz="1400">
                <a:latin typeface="Arial"/>
                <a:ea typeface="Arial"/>
                <a:cs typeface="Arial"/>
              </a:defRPr>
            </a:lvl1pPr>
            <a:lvl2pPr marR="914400" lvl="1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2pPr>
            <a:lvl3pPr marR="1371600" lvl="2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3pPr>
            <a:lvl4pPr marR="1828800" lvl="3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he-IL" sz="1200">
                <a:latin typeface="Arial"/>
                <a:ea typeface="Arial"/>
                <a:cs typeface="Arial"/>
              </a:defRPr>
            </a:lvl4pPr>
            <a:lvl5pPr marR="2286000" lvl="4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5pPr>
            <a:lvl6pPr marR="2743200" lvl="5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6pPr>
            <a:lvl7pPr marR="3200400" lvl="6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he-IL" sz="1200">
                <a:latin typeface="Arial"/>
                <a:ea typeface="Arial"/>
                <a:cs typeface="Arial"/>
              </a:defRPr>
            </a:lvl7pPr>
            <a:lvl8pPr marR="3657600" lvl="7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8pPr>
            <a:lvl9pPr marR="4114800" lvl="8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marR="457200" lvl="0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he-IL" sz="1400">
                <a:latin typeface="Arial"/>
                <a:ea typeface="Arial"/>
                <a:cs typeface="Arial"/>
              </a:defRPr>
            </a:lvl1pPr>
            <a:lvl2pPr marR="914400" lvl="1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2pPr>
            <a:lvl3pPr marR="1371600" lvl="2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3pPr>
            <a:lvl4pPr marR="1828800" lvl="3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he-IL" sz="1200">
                <a:latin typeface="Arial"/>
                <a:ea typeface="Arial"/>
                <a:cs typeface="Arial"/>
              </a:defRPr>
            </a:lvl4pPr>
            <a:lvl5pPr marR="2286000" lvl="4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5pPr>
            <a:lvl6pPr marR="2743200" lvl="5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6pPr>
            <a:lvl7pPr marR="3200400" lvl="6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he-IL" sz="1200">
                <a:latin typeface="Arial"/>
                <a:ea typeface="Arial"/>
                <a:cs typeface="Arial"/>
              </a:defRPr>
            </a:lvl7pPr>
            <a:lvl8pPr marR="3657600" lvl="7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8pPr>
            <a:lvl9pPr marR="4114800" lvl="8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2800"/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rtlCol="1" anchor="b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2400"/>
              <a:buNone/>
              <a:defRPr lang="he-IL" sz="24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marR="457200" lvl="0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he-IL" sz="1200">
                <a:latin typeface="Arial"/>
                <a:ea typeface="Arial"/>
                <a:cs typeface="Arial"/>
              </a:defRPr>
            </a:lvl1pPr>
            <a:lvl2pPr marR="914400" lvl="1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2pPr>
            <a:lvl3pPr marR="1371600" lvl="2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3pPr>
            <a:lvl4pPr marR="1828800" lvl="3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he-IL" sz="1200">
                <a:latin typeface="Arial"/>
                <a:ea typeface="Arial"/>
                <a:cs typeface="Arial"/>
              </a:defRPr>
            </a:lvl4pPr>
            <a:lvl5pPr marR="2286000" lvl="4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5pPr>
            <a:lvl6pPr marR="2743200" lvl="5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6pPr>
            <a:lvl7pPr marR="3200400" lvl="6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he-IL" sz="1200">
                <a:latin typeface="Arial"/>
                <a:ea typeface="Arial"/>
                <a:cs typeface="Arial"/>
              </a:defRPr>
            </a:lvl7pPr>
            <a:lvl8pPr marR="3657600" lvl="7" indent="304800" algn="r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he-IL" sz="1200">
                <a:latin typeface="Arial"/>
                <a:ea typeface="Arial"/>
                <a:cs typeface="Arial"/>
              </a:defRPr>
            </a:lvl8pPr>
            <a:lvl9pPr marR="4114800" lvl="8" indent="304800" algn="r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he-IL" sz="12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4800"/>
              <a:buNone/>
              <a:defRPr lang="he-IL" sz="48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rtlCol="1" anchor="b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4200"/>
              <a:buNone/>
              <a:defRPr lang="he-IL" sz="42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1pPr>
            <a:lvl2pPr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2pPr>
            <a:lvl3pPr lvl="2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3pPr>
            <a:lvl4pPr lvl="3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4pPr>
            <a:lvl5pPr lvl="4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5pPr>
            <a:lvl6pPr lvl="5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6pPr>
            <a:lvl7pPr lvl="6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7pPr>
            <a:lvl8pPr lvl="7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8pPr>
            <a:lvl9pPr lvl="8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he-IL" sz="2100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marR="457200" lvl="0" indent="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he-IL">
                <a:latin typeface="Arial"/>
                <a:ea typeface="Arial"/>
                <a:cs typeface="Arial"/>
              </a:defRPr>
            </a:lvl1pPr>
            <a:lvl2pPr marR="914400" lvl="1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2pPr>
            <a:lvl3pPr marR="1371600" lvl="2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3pPr>
            <a:lvl4pPr marR="1828800" lvl="3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he-IL">
                <a:latin typeface="Arial"/>
                <a:ea typeface="Arial"/>
                <a:cs typeface="Arial"/>
              </a:defRPr>
            </a:lvl4pPr>
            <a:lvl5pPr marR="2286000" lvl="4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5pPr>
            <a:lvl6pPr marR="2743200" lvl="5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6pPr>
            <a:lvl7pPr marR="3200400" lvl="6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he-IL">
                <a:latin typeface="Arial"/>
                <a:ea typeface="Arial"/>
                <a:cs typeface="Arial"/>
              </a:defRPr>
            </a:lvl7pPr>
            <a:lvl8pPr marR="3657600" lvl="7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8pPr>
            <a:lvl9pPr marR="4114800" lvl="8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41" name="Google Shape;4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marR="457200" lvl="0" indent="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he-IL">
                <a:latin typeface="Arial"/>
                <a:ea typeface="Arial"/>
                <a:cs typeface="Arial"/>
              </a:defRPr>
            </a:lvl1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rtlCol="1" anchor="b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SzPts val="12000"/>
              <a:buNone/>
              <a:defRPr lang="he-IL" sz="12000">
                <a:latin typeface="Arial"/>
                <a:ea typeface="Arial"/>
                <a:cs typeface="Arial"/>
              </a:defRPr>
            </a:lvl9pPr>
          </a:lstStyle>
          <a:p>
            <a:pPr algn="r" rtl="1"/>
            <a:r>
              <a:rPr lang="he-IL">
                <a:latin typeface="Arial"/>
                <a:ea typeface="Arial"/>
                <a:cs typeface="Arial"/>
              </a:rPr>
              <a:t>xx%</a:t>
            </a:r>
          </a:p>
        </p:txBody>
      </p:sp>
      <p:sp>
        <p:nvSpPr>
          <p:cNvPr id="47" name="Google Shape;47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marR="457200" lvl="0" indent="342900" algn="r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he-IL">
                <a:latin typeface="Arial"/>
                <a:ea typeface="Arial"/>
                <a:cs typeface="Arial"/>
              </a:defRPr>
            </a:lvl1pPr>
            <a:lvl2pPr marR="914400" lvl="1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2pPr>
            <a:lvl3pPr marR="1371600" lvl="2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3pPr>
            <a:lvl4pPr marR="1828800" lvl="3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he-IL">
                <a:latin typeface="Arial"/>
                <a:ea typeface="Arial"/>
                <a:cs typeface="Arial"/>
              </a:defRPr>
            </a:lvl4pPr>
            <a:lvl5pPr marR="2286000" lvl="4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5pPr>
            <a:lvl6pPr marR="2743200" lvl="5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6pPr>
            <a:lvl7pPr marR="3200400" lvl="6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he-IL">
                <a:latin typeface="Arial"/>
                <a:ea typeface="Arial"/>
                <a:cs typeface="Arial"/>
              </a:defRPr>
            </a:lvl7pPr>
            <a:lvl8pPr marR="3657600" lvl="7" indent="317500" algn="r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he-IL">
                <a:latin typeface="Arial"/>
                <a:ea typeface="Arial"/>
                <a:cs typeface="Arial"/>
              </a:defRPr>
            </a:lvl8pPr>
            <a:lvl9pPr marR="4114800" lvl="8" indent="317500" algn="r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he-IL"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lvl="1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lvl="2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lvl="3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lvl="4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lvl="5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lvl="6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lvl="7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lvl="8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he-IL"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1" anchor="t" anchorCtr="0">
            <a:normAutofit/>
          </a:bodyPr>
          <a:lstStyle>
            <a:lvl1pPr marR="457200" lvl="0" indent="3429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he-IL" sz="18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R="914400" lvl="1" indent="3175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he-IL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1371600" lvl="2" indent="3175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he-IL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1828800" lvl="3" indent="3175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he-IL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2286000" lvl="4" indent="3175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he-IL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2743200" lvl="5" indent="3175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he-IL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3200400" lvl="6" indent="3175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he-IL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3657600" lvl="7" indent="3175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he-IL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4114800" lvl="8" indent="31750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he-IL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algn="r" rtl="1"/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1" anchor="ctr" anchorCtr="0">
            <a:normAutofit/>
          </a:bodyPr>
          <a:lstStyle>
            <a:lvl1pPr lvl="0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lvl="1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lvl="2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lvl="3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lvl="4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lvl="5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lvl="6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lvl="7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lvl="8" algn="r" rtl="1">
              <a:buNone/>
              <a:defRPr lang="he-IL" sz="1000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e-IL">
                <a:latin typeface="Arial"/>
                <a:ea typeface="Arial"/>
                <a:cs typeface="Arial"/>
              </a:rPr>
              <a:t>‹#›</a:t>
            </a:fld>
            <a:endParaRPr lang="he-IL">
              <a:latin typeface="Arial"/>
              <a:ea typeface="Arial"/>
              <a:cs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 descr="Cinematic, high-contrast, abstract 3D geometric shapes representing artificial intelligence and strategic pathways. Converging luminous lines of electric cyan and gold on a deep navy black background. Subtle bokeh and depth of field, professional and executive style."/>
          <p:cNvPicPr preferRelativeResize="0"/>
          <p:nvPr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-1905000" y="-285750"/>
            <a:ext cx="5715000" cy="5715000"/>
          </a:xfrm>
          <a:prstGeom prst="ellipse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1A2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-952500" y="666750"/>
            <a:ext cx="3810000" cy="3810000"/>
          </a:xfrm>
          <a:prstGeom prst="ellipse">
            <a:avLst/>
          </a:prstGeom>
          <a:solidFill>
            <a:srgbClr val="000000">
              <a:alpha val="0"/>
            </a:srgbClr>
          </a:solidFill>
          <a:ln w="9525" cap="flat" cmpd="sng">
            <a:solidFill>
              <a:srgbClr val="1A23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>
            <a:off x="8382000" y="457200"/>
            <a:ext cx="304950" cy="352500"/>
            <a:chOff x="0" y="0"/>
            <a:chExt cx="304950" cy="352500"/>
          </a:xfrm>
        </p:grpSpPr>
        <p:sp>
          <p:nvSpPr>
            <p:cNvPr id="60" name="Google Shape;60;p14"/>
            <p:cNvSpPr/>
            <p:nvPr/>
          </p:nvSpPr>
          <p:spPr>
            <a:xfrm>
              <a:off x="0" y="0"/>
              <a:ext cx="304800" cy="3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120000" y="29838"/>
                  </a:lnTo>
                  <a:lnTo>
                    <a:pt x="120000" y="89838"/>
                  </a:lnTo>
                  <a:lnTo>
                    <a:pt x="60000" y="120000"/>
                  </a:lnTo>
                  <a:lnTo>
                    <a:pt x="0" y="89838"/>
                  </a:lnTo>
                  <a:lnTo>
                    <a:pt x="0" y="2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95250" y="119063"/>
              <a:ext cx="114300" cy="114300"/>
            </a:xfrm>
            <a:prstGeom prst="ellipse">
              <a:avLst/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152400" y="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20955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5" name="Google Shape;65;p14"/>
          <p:cNvSpPr txBox="1"/>
          <p:nvPr/>
        </p:nvSpPr>
        <p:spPr>
          <a:xfrm>
            <a:off x="2019300" y="1333500"/>
            <a:ext cx="6667500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480" b="1" dirty="0">
                <a:solidFill>
                  <a:srgbClr val="FFC107"/>
                </a:solidFill>
                <a:latin typeface="Arial"/>
                <a:ea typeface="Arial"/>
                <a:cs typeface="Arial"/>
                <a:sym typeface="Rubik"/>
              </a:rPr>
              <a:t>מנהיגות בעידן החדש</a:t>
            </a:r>
          </a:p>
          <a:p>
            <a:pPr marR="0" lvl="0" indent="0" algn="r" rtl="1">
              <a:spcBef>
                <a:spcPts val="600"/>
              </a:spcBef>
              <a:spcAft>
                <a:spcPts val="0"/>
              </a:spcAft>
              <a:buNone/>
            </a:pPr>
            <a:r>
              <a:rPr lang="he-IL" sz="333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המסע אל הבינה המלאכותית: תודעה, אסטרטגיה ומנהיגות בעידן של שיבוש.</a:t>
            </a:r>
          </a:p>
          <a:p>
            <a:pPr marR="0" lvl="0" indent="0" algn="r" rtl="1">
              <a:spcBef>
                <a:spcPts val="1500"/>
              </a:spcBef>
              <a:spcAft>
                <a:spcPts val="1200"/>
              </a:spcAft>
              <a:buNone/>
            </a:pPr>
            <a:r>
              <a:rPr lang="he-IL" sz="1665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לא שדרוג טכנולוגי - החלפת תשתית ועיצוב מחדש של היתרון האנושי והעסקי.</a:t>
            </a:r>
          </a:p>
        </p:txBody>
      </p:sp>
      <p:grpSp>
        <p:nvGrpSpPr>
          <p:cNvPr id="66" name="Google Shape;66;p14"/>
          <p:cNvGrpSpPr/>
          <p:nvPr/>
        </p:nvGrpSpPr>
        <p:grpSpPr>
          <a:xfrm>
            <a:off x="457200" y="4762500"/>
            <a:ext cx="8229600" cy="333450"/>
            <a:chOff x="457200" y="4762500"/>
            <a:chExt cx="8229600" cy="333450"/>
          </a:xfrm>
        </p:grpSpPr>
        <p:cxnSp>
          <p:nvCxnSpPr>
            <p:cNvPr id="67" name="Google Shape;67;p14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68" name="Google Shape;68;p14"/>
            <p:cNvSpPr txBox="1"/>
            <p:nvPr/>
          </p:nvSpPr>
          <p:spPr>
            <a:xfrm>
              <a:off x="457200" y="4857750"/>
              <a:ext cx="82296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0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ssistant"/>
                </a:rPr>
                <a:t>המסע אל הבינה המלאכותית | אמיר רוזן</a:t>
              </a:r>
              <a:endParaRPr lang="he-IL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grpSp>
        <p:nvGrpSpPr>
          <p:cNvPr id="75" name="Google Shape;75;p15"/>
          <p:cNvGrpSpPr/>
          <p:nvPr/>
        </p:nvGrpSpPr>
        <p:grpSpPr>
          <a:xfrm>
            <a:off x="1023938" y="1500188"/>
            <a:ext cx="768000" cy="768000"/>
            <a:chOff x="17859" y="17859"/>
            <a:chExt cx="192000" cy="192000"/>
          </a:xfrm>
        </p:grpSpPr>
        <p:pic>
          <p:nvPicPr>
            <p:cNvPr id="76" name="Google Shape;76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7859" y="17859"/>
              <a:ext cx="192000" cy="19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4924" y="17859"/>
              <a:ext cx="20100" cy="57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924" y="151805"/>
              <a:ext cx="20100" cy="57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7859" y="104924"/>
              <a:ext cx="57900" cy="2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5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51805" y="104924"/>
              <a:ext cx="57900" cy="20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5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5902" y="75902"/>
              <a:ext cx="78000" cy="78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" name="Google Shape;82;p15"/>
          <p:cNvGrpSpPr/>
          <p:nvPr/>
        </p:nvGrpSpPr>
        <p:grpSpPr>
          <a:xfrm>
            <a:off x="1238250" y="1333500"/>
            <a:ext cx="6667500" cy="1714500"/>
            <a:chOff x="0" y="0"/>
            <a:chExt cx="6667500" cy="1714500"/>
          </a:xfrm>
        </p:grpSpPr>
        <p:pic>
          <p:nvPicPr>
            <p:cNvPr id="83" name="Google Shape;83;p15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0" y="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15"/>
            <p:cNvSpPr txBox="1"/>
            <p:nvPr/>
          </p:nvSpPr>
          <p:spPr>
            <a:xfrm>
              <a:off x="0" y="0"/>
              <a:ext cx="6667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400" b="0" i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Rubik"/>
                </a:rPr>
                <a:t>״יש עשורים שלא קורה בהם דבר, ויש שבועות שמעצבים עשורים שלמים״</a:t>
              </a:r>
            </a:p>
            <a:p>
              <a:pPr marR="0" lvl="0" indent="0" algn="r" rtl="1">
                <a:spcBef>
                  <a:spcPts val="1200"/>
                </a:spcBef>
                <a:spcAft>
                  <a:spcPts val="600"/>
                </a:spcAft>
                <a:buNone/>
              </a:pPr>
              <a:r>
                <a:rPr lang="he-IL" sz="1600" b="1" i="0" dirty="0">
                  <a:solidFill>
                    <a:srgbClr val="FFC107"/>
                  </a:solidFill>
                  <a:latin typeface="Arial"/>
                  <a:ea typeface="Arial"/>
                  <a:cs typeface="Arial"/>
                  <a:sym typeface="Rubik"/>
                </a:rPr>
                <a:t>ולדימיר לנין</a:t>
              </a: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6153150" y="3048000"/>
            <a:ext cx="2533800" cy="1333500"/>
            <a:chOff x="0" y="0"/>
            <a:chExt cx="2533800" cy="13335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2533800" cy="1333500"/>
            </a:xfrm>
            <a:prstGeom prst="roundRect">
              <a:avLst>
                <a:gd name="adj" fmla="val 5714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2495550" y="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grpSp>
          <p:nvGrpSpPr>
            <p:cNvPr id="88" name="Google Shape;88;p15"/>
            <p:cNvGrpSpPr/>
            <p:nvPr/>
          </p:nvGrpSpPr>
          <p:grpSpPr>
            <a:xfrm>
              <a:off x="2171700" y="152400"/>
              <a:ext cx="190650" cy="190650"/>
              <a:chOff x="19050" y="0"/>
              <a:chExt cx="190650" cy="190650"/>
            </a:xfrm>
          </p:grpSpPr>
          <p:sp>
            <p:nvSpPr>
              <p:cNvPr id="89" name="Google Shape;89;p15"/>
              <p:cNvSpPr/>
              <p:nvPr/>
            </p:nvSpPr>
            <p:spPr>
              <a:xfrm>
                <a:off x="19050" y="95250"/>
                <a:ext cx="954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48000" y="120000"/>
                    </a:lnTo>
                    <a:cubicBezTo>
                      <a:pt x="21490" y="120000"/>
                      <a:pt x="0" y="98510"/>
                      <a:pt x="0" y="72000"/>
                    </a:cubicBezTo>
                    <a:lnTo>
                      <a:pt x="0" y="48000"/>
                    </a:lnTo>
                    <a:cubicBezTo>
                      <a:pt x="0" y="21490"/>
                      <a:pt x="21490" y="0"/>
                      <a:pt x="48000" y="0"/>
                    </a:cubicBezTo>
                    <a:lnTo>
                      <a:pt x="66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114300" y="95250"/>
                <a:ext cx="954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72000" y="120000"/>
                    </a:lnTo>
                    <a:cubicBezTo>
                      <a:pt x="98510" y="120000"/>
                      <a:pt x="120000" y="98510"/>
                      <a:pt x="120000" y="72000"/>
                    </a:cubicBezTo>
                    <a:lnTo>
                      <a:pt x="120000" y="48000"/>
                    </a:lnTo>
                    <a:cubicBezTo>
                      <a:pt x="120000" y="21490"/>
                      <a:pt x="98510" y="0"/>
                      <a:pt x="72000" y="0"/>
                    </a:cubicBezTo>
                    <a:lnTo>
                      <a:pt x="54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114300" y="95250"/>
                <a:ext cx="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12000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76200" y="0"/>
                <a:ext cx="76200" cy="95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6863" y="120000"/>
                      <a:pt x="0" y="98510"/>
                      <a:pt x="0" y="72000"/>
                    </a:cubicBezTo>
                    <a:lnTo>
                      <a:pt x="0" y="48000"/>
                    </a:lnTo>
                    <a:cubicBezTo>
                      <a:pt x="0" y="21490"/>
                      <a:pt x="26863" y="0"/>
                      <a:pt x="60000" y="0"/>
                    </a:cubicBezTo>
                    <a:cubicBezTo>
                      <a:pt x="93137" y="0"/>
                      <a:pt x="120000" y="21490"/>
                      <a:pt x="120000" y="48000"/>
                    </a:cubicBezTo>
                    <a:lnTo>
                      <a:pt x="120000" y="72000"/>
                    </a:lnTo>
                    <a:cubicBezTo>
                      <a:pt x="120000" y="98510"/>
                      <a:pt x="93137" y="120000"/>
                      <a:pt x="60000" y="12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</p:grpSp>
        <p:sp>
          <p:nvSpPr>
            <p:cNvPr id="93" name="Google Shape;93;p15"/>
            <p:cNvSpPr txBox="1"/>
            <p:nvPr/>
          </p:nvSpPr>
          <p:spPr>
            <a:xfrm>
              <a:off x="152400" y="457200"/>
              <a:ext cx="22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Rubik"/>
                </a:rPr>
                <a:t>התיישנות הידע</a:t>
              </a:r>
            </a:p>
            <a:p>
              <a:pPr marR="0" lvl="0" indent="0" algn="r" rtl="1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הידע שברשותנו שייך לעולם הישן. עלינו לאתחל את התפיסה.</a:t>
              </a: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3305175" y="3048000"/>
            <a:ext cx="2533800" cy="1333500"/>
            <a:chOff x="0" y="0"/>
            <a:chExt cx="2533800" cy="1333500"/>
          </a:xfrm>
        </p:grpSpPr>
        <p:sp>
          <p:nvSpPr>
            <p:cNvPr id="95" name="Google Shape;95;p15"/>
            <p:cNvSpPr/>
            <p:nvPr/>
          </p:nvSpPr>
          <p:spPr>
            <a:xfrm>
              <a:off x="0" y="0"/>
              <a:ext cx="2533800" cy="1333500"/>
            </a:xfrm>
            <a:prstGeom prst="roundRect">
              <a:avLst>
                <a:gd name="adj" fmla="val 5714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2495550" y="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grpSp>
          <p:nvGrpSpPr>
            <p:cNvPr id="97" name="Google Shape;97;p15"/>
            <p:cNvGrpSpPr/>
            <p:nvPr/>
          </p:nvGrpSpPr>
          <p:grpSpPr>
            <a:xfrm>
              <a:off x="2181225" y="180975"/>
              <a:ext cx="171600" cy="171600"/>
              <a:chOff x="28575" y="28575"/>
              <a:chExt cx="171600" cy="171600"/>
            </a:xfrm>
          </p:grpSpPr>
          <p:sp>
            <p:nvSpPr>
              <p:cNvPr id="98" name="Google Shape;98;p15"/>
              <p:cNvSpPr/>
              <p:nvPr/>
            </p:nvSpPr>
            <p:spPr>
              <a:xfrm>
                <a:off x="28575" y="28575"/>
                <a:ext cx="171600" cy="1716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FFC10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114300" y="28575"/>
                <a:ext cx="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FFC10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114300" y="161925"/>
                <a:ext cx="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FFC10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8575" y="114300"/>
                <a:ext cx="381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FFC10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161925" y="114300"/>
                <a:ext cx="381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rnd" cmpd="sng">
                <a:solidFill>
                  <a:srgbClr val="FFC10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85725" y="85725"/>
                <a:ext cx="57300" cy="57300"/>
              </a:xfrm>
              <a:prstGeom prst="ellipse">
                <a:avLst/>
              </a:prstGeom>
              <a:solidFill>
                <a:srgbClr val="FFC107"/>
              </a:solidFill>
              <a:ln w="19050" cap="rnd" cmpd="sng">
                <a:solidFill>
                  <a:srgbClr val="FFC10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</p:grpSp>
        <p:sp>
          <p:nvSpPr>
            <p:cNvPr id="104" name="Google Shape;104;p15"/>
            <p:cNvSpPr txBox="1"/>
            <p:nvPr/>
          </p:nvSpPr>
          <p:spPr>
            <a:xfrm>
              <a:off x="152400" y="457200"/>
              <a:ext cx="22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FFC107"/>
                  </a:solidFill>
                  <a:latin typeface="Arial"/>
                  <a:ea typeface="Arial"/>
                  <a:cs typeface="Arial"/>
                  <a:sym typeface="Rubik"/>
                </a:rPr>
                <a:t>דיכוטומיה של תגובה</a:t>
              </a:r>
            </a:p>
            <a:p>
              <a:pPr marR="0" lvl="0" indent="0" algn="r" rtl="1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בחירה בין פסיביות והיסחפות לבין תכנון ופעולה יזומה.</a:t>
              </a:r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457200" y="3048000"/>
            <a:ext cx="2533800" cy="1333500"/>
            <a:chOff x="0" y="0"/>
            <a:chExt cx="2533800" cy="1333500"/>
          </a:xfrm>
        </p:grpSpPr>
        <p:sp>
          <p:nvSpPr>
            <p:cNvPr id="106" name="Google Shape;106;p15"/>
            <p:cNvSpPr/>
            <p:nvPr/>
          </p:nvSpPr>
          <p:spPr>
            <a:xfrm>
              <a:off x="0" y="0"/>
              <a:ext cx="2533800" cy="1333500"/>
            </a:xfrm>
            <a:prstGeom prst="roundRect">
              <a:avLst>
                <a:gd name="adj" fmla="val 5714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495550" y="0"/>
              <a:ext cx="38100" cy="13335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181225" y="171450"/>
              <a:ext cx="1716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6667" y="0"/>
                  </a:moveTo>
                  <a:lnTo>
                    <a:pt x="0" y="72000"/>
                  </a:lnTo>
                  <a:lnTo>
                    <a:pt x="60000" y="72000"/>
                  </a:lnTo>
                  <a:lnTo>
                    <a:pt x="53333" y="120000"/>
                  </a:lnTo>
                  <a:lnTo>
                    <a:pt x="120000" y="48000"/>
                  </a:lnTo>
                  <a:lnTo>
                    <a:pt x="60000" y="48000"/>
                  </a:lnTo>
                  <a:lnTo>
                    <a:pt x="66667" y="0"/>
                  </a:lnTo>
                  <a:close/>
                </a:path>
              </a:pathLst>
            </a:custGeom>
            <a:solidFill>
              <a:srgbClr val="00E5FF">
                <a:alpha val="20000"/>
              </a:srgbClr>
            </a:solidFill>
            <a:ln w="19050" cap="rnd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152400" y="457200"/>
              <a:ext cx="222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Rubik"/>
                </a:rPr>
                <a:t>ההזדמנות שבכאוס</a:t>
              </a:r>
            </a:p>
            <a:p>
              <a:pPr marR="0" lvl="0" indent="0" algn="r" rtl="1">
                <a:spcBef>
                  <a:spcPts val="3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מרחב עצום לתכנון ולפעולה כדי לנצח ולעצב את העתיד.</a:t>
              </a:r>
            </a:p>
          </p:txBody>
        </p:sp>
      </p:grpSp>
      <p:grpSp>
        <p:nvGrpSpPr>
          <p:cNvPr id="110" name="Google Shape;110;p15"/>
          <p:cNvGrpSpPr/>
          <p:nvPr/>
        </p:nvGrpSpPr>
        <p:grpSpPr>
          <a:xfrm>
            <a:off x="457200" y="4762500"/>
            <a:ext cx="8229600" cy="381150"/>
            <a:chOff x="457200" y="4762500"/>
            <a:chExt cx="8229600" cy="381150"/>
          </a:xfrm>
        </p:grpSpPr>
        <p:cxnSp>
          <p:nvCxnSpPr>
            <p:cNvPr id="111" name="Google Shape;111;p15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2" name="Google Shape;112;p15"/>
            <p:cNvSpPr txBox="1"/>
            <p:nvPr/>
          </p:nvSpPr>
          <p:spPr>
            <a:xfrm>
              <a:off x="457200" y="4857750"/>
              <a:ext cx="8229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0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ssistant"/>
                </a:rPr>
                <a:t>המסע אל הבינה המלאכותית | אמיר רוזן</a:t>
              </a:r>
              <a:endParaRPr lang="he-IL" dirty="0">
                <a:latin typeface="Arial"/>
                <a:ea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8382000" y="457200"/>
            <a:ext cx="304950" cy="352500"/>
            <a:chOff x="0" y="0"/>
            <a:chExt cx="304950" cy="352500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304800" cy="3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120000" y="29838"/>
                  </a:lnTo>
                  <a:lnTo>
                    <a:pt x="120000" y="89838"/>
                  </a:lnTo>
                  <a:lnTo>
                    <a:pt x="60000" y="120000"/>
                  </a:lnTo>
                  <a:lnTo>
                    <a:pt x="0" y="89838"/>
                  </a:lnTo>
                  <a:lnTo>
                    <a:pt x="0" y="2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95250" y="119063"/>
              <a:ext cx="114300" cy="114300"/>
            </a:xfrm>
            <a:prstGeom prst="ellipse">
              <a:avLst/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152400" y="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20955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126" name="Google Shape;126;p16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16"/>
          <p:cNvSpPr txBox="1"/>
          <p:nvPr/>
        </p:nvSpPr>
        <p:spPr>
          <a:xfrm>
            <a:off x="42330" y="4572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הראייה הכוללת: להמריא מעל הפרטים הטכניים.</a:t>
            </a:r>
          </a:p>
          <a:p>
            <a:pPr marR="0" lvl="0" indent="0" algn="r" rtl="1">
              <a:spcBef>
                <a:spcPts val="600"/>
              </a:spcBef>
              <a:spcAft>
                <a:spcPts val="1200"/>
              </a:spcAft>
              <a:buNone/>
            </a:pP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התרוממות לגובה 30,000 רגל.</a:t>
            </a:r>
          </a:p>
        </p:txBody>
      </p:sp>
      <p:grpSp>
        <p:nvGrpSpPr>
          <p:cNvPr id="129" name="Google Shape;129;p16"/>
          <p:cNvGrpSpPr/>
          <p:nvPr/>
        </p:nvGrpSpPr>
        <p:grpSpPr>
          <a:xfrm>
            <a:off x="457200" y="1524000"/>
            <a:ext cx="3429000" cy="2419350"/>
            <a:chOff x="0" y="0"/>
            <a:chExt cx="3429000" cy="2419350"/>
          </a:xfrm>
        </p:grpSpPr>
        <p:pic>
          <p:nvPicPr>
            <p:cNvPr id="130" name="Google Shape;130;p16" descr="A cinematic, abstract visualization of 'rising above' complexity. Sophisticated glowing cyan and gold geometric nodes and pathways forming a vast, high-altitude terrain of light on a deep navy background. Represents strategic vision and clarity from a 30,000-foot perspective. Minimalist, executive, and high-contrast."/>
            <p:cNvPicPr preferRelativeResize="0"/>
            <p:nvPr/>
          </p:nvPicPr>
          <p:blipFill rotWithShape="1">
            <a:blip r:embed="rId3">
              <a:alphaModFix/>
            </a:blip>
            <a:srcRect t="16667" b="16667"/>
            <a:stretch/>
          </p:blipFill>
          <p:spPr>
            <a:xfrm>
              <a:off x="0" y="0"/>
              <a:ext cx="3429000" cy="2286000"/>
            </a:xfrm>
            <a:prstGeom prst="roundRect">
              <a:avLst>
                <a:gd name="adj" fmla="val 5000"/>
              </a:avLst>
            </a:prstGeom>
            <a:noFill/>
            <a:ln>
              <a:noFill/>
            </a:ln>
          </p:spPr>
        </p:pic>
        <p:sp>
          <p:nvSpPr>
            <p:cNvPr id="131" name="Google Shape;131;p16"/>
            <p:cNvSpPr/>
            <p:nvPr/>
          </p:nvSpPr>
          <p:spPr>
            <a:xfrm>
              <a:off x="0" y="0"/>
              <a:ext cx="3429000" cy="2286000"/>
            </a:xfrm>
            <a:prstGeom prst="roundRect">
              <a:avLst>
                <a:gd name="adj" fmla="val 5000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0" y="23812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3" name="Google Shape;133;p16"/>
          <p:cNvSpPr txBox="1"/>
          <p:nvPr/>
        </p:nvSpPr>
        <p:spPr>
          <a:xfrm>
            <a:off x="3886200" y="1524000"/>
            <a:ext cx="470535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95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המלכודת הנפוצה</a:t>
            </a:r>
          </a:p>
          <a:p>
            <a:pPr marR="457200" lvl="0" indent="310833" algn="r" rtl="1">
              <a:spcBef>
                <a:spcPts val="300"/>
              </a:spcBef>
              <a:spcAft>
                <a:spcPts val="0"/>
              </a:spcAft>
              <a:buClr>
                <a:srgbClr val="00E5FF"/>
              </a:buClr>
              <a:buSzPts val="1295"/>
              <a:buChar char="●"/>
            </a:pPr>
            <a:r>
              <a:rPr lang="he-IL" sz="1295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עיסוק אובססיבי במודל ה-AI האחרון או בכלים נקודתיים במקום בראייה רחבה.</a:t>
            </a:r>
            <a:endParaRPr lang="he-IL" sz="1295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0" lvl="0" indent="0" algn="r" rtl="1">
              <a:spcBef>
                <a:spcPts val="900"/>
              </a:spcBef>
              <a:spcAft>
                <a:spcPts val="0"/>
              </a:spcAft>
              <a:buNone/>
            </a:pPr>
            <a:r>
              <a:rPr lang="he-IL" sz="1295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הצורך הקריטי</a:t>
            </a:r>
          </a:p>
          <a:p>
            <a:pPr marR="457200" lvl="0" indent="310833" algn="r" rtl="1">
              <a:spcBef>
                <a:spcPts val="300"/>
              </a:spcBef>
              <a:spcAft>
                <a:spcPts val="0"/>
              </a:spcAft>
              <a:buClr>
                <a:srgbClr val="00E5FF"/>
              </a:buClr>
              <a:buSzPts val="1295"/>
              <a:buChar char="●"/>
            </a:pPr>
            <a:r>
              <a:rPr lang="he-IL" sz="1295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סידור התמונה הכוללת בראש ובניית מסגרת עבודה אסטרטגית לפני שצוללים לטקטיקה.</a:t>
            </a:r>
            <a:endParaRPr lang="he-IL" sz="1295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0" lvl="0" indent="0" algn="r" rtl="1">
              <a:spcBef>
                <a:spcPts val="900"/>
              </a:spcBef>
              <a:spcAft>
                <a:spcPts val="0"/>
              </a:spcAft>
              <a:buNone/>
            </a:pPr>
            <a:r>
              <a:rPr lang="he-IL" sz="1295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עיצוב המציאות</a:t>
            </a:r>
          </a:p>
          <a:p>
            <a:pPr marR="457200" lvl="0" indent="310833" algn="r" rtl="1">
              <a:spcBef>
                <a:spcPts val="300"/>
              </a:spcBef>
              <a:spcAft>
                <a:spcPts val="0"/>
              </a:spcAft>
              <a:buClr>
                <a:srgbClr val="00E5FF"/>
              </a:buClr>
              <a:buSzPts val="1295"/>
              <a:buChar char="●"/>
            </a:pPr>
            <a:r>
              <a:rPr lang="he-IL" sz="1295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המעבר מגישה תגובתית לשינויים טכנולוגיים לעיצוב אקטיבי של עולם הפעולה שלנו.</a:t>
            </a:r>
            <a:endParaRPr lang="he-IL" sz="1295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0" lvl="0" indent="0" algn="r" rtl="1">
              <a:spcBef>
                <a:spcPts val="900"/>
              </a:spcBef>
              <a:spcAft>
                <a:spcPts val="0"/>
              </a:spcAft>
              <a:buNone/>
            </a:pPr>
            <a:r>
              <a:rPr lang="he-IL" sz="1295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פסיכולוגיה של הנהגה</a:t>
            </a:r>
          </a:p>
          <a:p>
            <a:pPr marR="457200" lvl="0" indent="310833" algn="r" rtl="1">
              <a:spcBef>
                <a:spcPts val="300"/>
              </a:spcBef>
              <a:spcAft>
                <a:spcPts val="900"/>
              </a:spcAft>
              <a:buClr>
                <a:srgbClr val="00E5FF"/>
              </a:buClr>
              <a:buSzPts val="1295"/>
              <a:buChar char="●"/>
            </a:pPr>
            <a:r>
              <a:rPr lang="he-IL" sz="1295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תיעול הפחד והחרדה </a:t>
            </a:r>
            <a:r>
              <a:rPr lang="he-IL" sz="1295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מהלא</a:t>
            </a:r>
            <a:r>
              <a:rPr lang="he-IL" sz="1295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 נודע והפיכתם למנוע של שליטה, יצירת ערך והובלה.</a:t>
            </a:r>
            <a:endParaRPr lang="he-IL" sz="1295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134" name="Google Shape;134;p16"/>
          <p:cNvGrpSpPr/>
          <p:nvPr/>
        </p:nvGrpSpPr>
        <p:grpSpPr>
          <a:xfrm>
            <a:off x="485775" y="4029075"/>
            <a:ext cx="285750" cy="285750"/>
            <a:chOff x="19050" y="19050"/>
            <a:chExt cx="190500" cy="190500"/>
          </a:xfrm>
        </p:grpSpPr>
        <p:pic>
          <p:nvPicPr>
            <p:cNvPr id="135" name="Google Shape;135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9050" y="190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9050" y="190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D4954A35-A0D5-AF40-88F0-55289638F76F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Cinematic background with high contrast between two sides. On the right, structured, cold electric cyan geometric neural network nodes representing AI commodity. On the left, a warm, organic, luminous explosion of golden and cyan energy sparks representing human intuition and creative imagination. Deep navy black background."/>
          <p:cNvPicPr preferRelativeResize="0"/>
          <p:nvPr/>
        </p:nvPicPr>
        <p:blipFill rotWithShape="1">
          <a:blip r:embed="rId3">
            <a:alphaModFix amt="3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3867" y="4572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מאינטליגנציה כמוצר מדף – לייחוד האנושי והיצירתי</a:t>
            </a:r>
          </a:p>
          <a:p>
            <a:pPr marR="0" lvl="0" indent="0" algn="r" rtl="1">
              <a:spcBef>
                <a:spcPts val="600"/>
              </a:spcBef>
              <a:spcAft>
                <a:spcPts val="1200"/>
              </a:spcAft>
              <a:buNone/>
            </a:pP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המעבר מידע זמין ונגיש לערך מוסף של הניצוץ האנושי</a:t>
            </a:r>
          </a:p>
        </p:txBody>
      </p:sp>
      <p:grpSp>
        <p:nvGrpSpPr>
          <p:cNvPr id="144" name="Google Shape;144;p17"/>
          <p:cNvGrpSpPr/>
          <p:nvPr/>
        </p:nvGrpSpPr>
        <p:grpSpPr>
          <a:xfrm>
            <a:off x="571500" y="1905000"/>
            <a:ext cx="8001000" cy="2095500"/>
            <a:chOff x="0" y="0"/>
            <a:chExt cx="8001000" cy="2095500"/>
          </a:xfrm>
        </p:grpSpPr>
        <p:grpSp>
          <p:nvGrpSpPr>
            <p:cNvPr id="145" name="Google Shape;145;p17"/>
            <p:cNvGrpSpPr/>
            <p:nvPr/>
          </p:nvGrpSpPr>
          <p:grpSpPr>
            <a:xfrm>
              <a:off x="4191000" y="0"/>
              <a:ext cx="3810000" cy="2095500"/>
              <a:chOff x="4191000" y="0"/>
              <a:chExt cx="3810000" cy="2095500"/>
            </a:xfrm>
          </p:grpSpPr>
          <p:sp>
            <p:nvSpPr>
              <p:cNvPr id="146" name="Google Shape;146;p17"/>
              <p:cNvSpPr/>
              <p:nvPr/>
            </p:nvSpPr>
            <p:spPr>
              <a:xfrm>
                <a:off x="4191000" y="0"/>
                <a:ext cx="3810000" cy="2095500"/>
              </a:xfrm>
              <a:prstGeom prst="roundRect">
                <a:avLst>
                  <a:gd name="adj" fmla="val 3636"/>
                </a:avLst>
              </a:prstGeom>
              <a:solidFill>
                <a:srgbClr val="1A2333">
                  <a:alpha val="90000"/>
                </a:srgbClr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47" name="Google Shape;147;p17"/>
              <p:cNvSpPr txBox="1"/>
              <p:nvPr/>
            </p:nvSpPr>
            <p:spPr>
              <a:xfrm>
                <a:off x="4381500" y="285750"/>
                <a:ext cx="3429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1" anchor="t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e-IL" sz="1600" b="1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Rubik"/>
                  </a:rPr>
                  <a:t>קומודיטי (Commodity)</a:t>
                </a:r>
              </a:p>
              <a:p>
                <a:pPr marR="0" lvl="0" indent="0" algn="r" rtl="1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he-IL" sz="2000" b="1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Rubik"/>
                  </a:rPr>
                  <a:t>ידע ויכולות אנליטיות</a:t>
                </a:r>
              </a:p>
              <a:p>
                <a:pPr marR="0" lvl="0" indent="0" algn="r" rtl="1">
                  <a:spcBef>
                    <a:spcPts val="600"/>
                  </a:spcBef>
                  <a:spcAft>
                    <a:spcPts val="900"/>
                  </a:spcAft>
                  <a:buNone/>
                </a:pPr>
                <a:r>
                  <a:rPr lang="he-IL" sz="1400" b="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ssistant"/>
                  </a:rPr>
                  <a:t>ידע וניסיון של עשורים הופכים לזמינים לכולם בלחיצת כפתור. עיבוד מידע ואופטימיזציה הם כעת מוצר מדף נגיש.</a:t>
                </a:r>
              </a:p>
            </p:txBody>
          </p:sp>
        </p:grpSp>
        <p:grpSp>
          <p:nvGrpSpPr>
            <p:cNvPr id="148" name="Google Shape;148;p17"/>
            <p:cNvGrpSpPr/>
            <p:nvPr/>
          </p:nvGrpSpPr>
          <p:grpSpPr>
            <a:xfrm>
              <a:off x="3733800" y="781050"/>
              <a:ext cx="533400" cy="533400"/>
              <a:chOff x="3733800" y="781050"/>
              <a:chExt cx="533400" cy="533400"/>
            </a:xfrm>
          </p:grpSpPr>
          <p:sp>
            <p:nvSpPr>
              <p:cNvPr id="149" name="Google Shape;149;p17"/>
              <p:cNvSpPr/>
              <p:nvPr/>
            </p:nvSpPr>
            <p:spPr>
              <a:xfrm>
                <a:off x="3733800" y="781050"/>
                <a:ext cx="533400" cy="533400"/>
              </a:xfrm>
              <a:prstGeom prst="ellipse">
                <a:avLst/>
              </a:prstGeom>
              <a:solidFill>
                <a:srgbClr val="0B0F19"/>
              </a:solidFill>
              <a:ln w="19050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0" name="Google Shape;150;p17"/>
              <p:cNvSpPr txBox="1"/>
              <p:nvPr/>
            </p:nvSpPr>
            <p:spPr>
              <a:xfrm>
                <a:off x="3771900" y="885825"/>
                <a:ext cx="4572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ct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e-IL" sz="140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Rubik"/>
                  </a:rPr>
                  <a:t>VS</a:t>
                </a:r>
              </a:p>
            </p:txBody>
          </p:sp>
        </p:grpSp>
        <p:grpSp>
          <p:nvGrpSpPr>
            <p:cNvPr id="151" name="Google Shape;151;p17"/>
            <p:cNvGrpSpPr/>
            <p:nvPr/>
          </p:nvGrpSpPr>
          <p:grpSpPr>
            <a:xfrm>
              <a:off x="0" y="0"/>
              <a:ext cx="3810000" cy="2095500"/>
              <a:chOff x="0" y="0"/>
              <a:chExt cx="3810000" cy="2095500"/>
            </a:xfrm>
          </p:grpSpPr>
          <p:sp>
            <p:nvSpPr>
              <p:cNvPr id="152" name="Google Shape;152;p17"/>
              <p:cNvSpPr/>
              <p:nvPr/>
            </p:nvSpPr>
            <p:spPr>
              <a:xfrm>
                <a:off x="0" y="0"/>
                <a:ext cx="3810000" cy="2095500"/>
              </a:xfrm>
              <a:prstGeom prst="roundRect">
                <a:avLst>
                  <a:gd name="adj" fmla="val 3636"/>
                </a:avLst>
              </a:prstGeom>
              <a:solidFill>
                <a:srgbClr val="233044">
                  <a:alpha val="90000"/>
                </a:srgbClr>
              </a:solidFill>
              <a:ln w="19050" cap="flat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53" name="Google Shape;153;p17"/>
              <p:cNvSpPr txBox="1"/>
              <p:nvPr/>
            </p:nvSpPr>
            <p:spPr>
              <a:xfrm>
                <a:off x="190500" y="285750"/>
                <a:ext cx="34290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1" anchor="t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e-IL" sz="1600" b="1">
                    <a:solidFill>
                      <a:srgbClr val="00E5FF"/>
                    </a:solidFill>
                    <a:latin typeface="Arial"/>
                    <a:ea typeface="Arial"/>
                    <a:cs typeface="Arial"/>
                    <a:sym typeface="Rubik"/>
                  </a:rPr>
                  <a:t>הייחוד האנושי</a:t>
                </a:r>
              </a:p>
              <a:p>
                <a:pPr marR="0" lvl="0" indent="0" algn="r" rtl="1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he-IL" sz="2000" b="1">
                    <a:solidFill>
                      <a:srgbClr val="FFC107"/>
                    </a:solidFill>
                    <a:latin typeface="Arial"/>
                    <a:ea typeface="Arial"/>
                    <a:cs typeface="Arial"/>
                    <a:sym typeface="Rubik"/>
                  </a:rPr>
                  <a:t>הניצוץ והשריטה שלנו</a:t>
                </a:r>
              </a:p>
              <a:p>
                <a:pPr marR="0" lvl="0" indent="0" algn="r" rtl="1">
                  <a:spcBef>
                    <a:spcPts val="600"/>
                  </a:spcBef>
                  <a:spcAft>
                    <a:spcPts val="900"/>
                  </a:spcAft>
                  <a:buNone/>
                </a:pPr>
                <a:r>
                  <a:rPr lang="he-IL" sz="1400" b="0">
                    <a:solidFill>
                      <a:srgbClr val="94A3B8"/>
                    </a:solidFill>
                    <a:latin typeface="Arial"/>
                    <a:ea typeface="Arial"/>
                    <a:cs typeface="Arial"/>
                    <a:sym typeface="Assistant"/>
                  </a:rPr>
                  <a:t>אינטואיציה, דמיון וחשיבה לא-לינארית. היכולת לשאול את השאלות הנכונות ולייצר חזון אסטרטגי. ״השריטה שלנו = המתנה שלנו״.</a:t>
                </a:r>
              </a:p>
            </p:txBody>
          </p:sp>
        </p:grpSp>
      </p:grpSp>
      <p:cxnSp>
        <p:nvCxnSpPr>
          <p:cNvPr id="155" name="Google Shape;155;p17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7" name="Google Shape;157;p17"/>
          <p:cNvGrpSpPr/>
          <p:nvPr/>
        </p:nvGrpSpPr>
        <p:grpSpPr>
          <a:xfrm>
            <a:off x="8382000" y="457200"/>
            <a:ext cx="243960" cy="282000"/>
            <a:chOff x="0" y="0"/>
            <a:chExt cx="304950" cy="352500"/>
          </a:xfrm>
        </p:grpSpPr>
        <p:sp>
          <p:nvSpPr>
            <p:cNvPr id="158" name="Google Shape;158;p17"/>
            <p:cNvSpPr/>
            <p:nvPr/>
          </p:nvSpPr>
          <p:spPr>
            <a:xfrm>
              <a:off x="0" y="0"/>
              <a:ext cx="304800" cy="3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120000" y="29838"/>
                  </a:lnTo>
                  <a:lnTo>
                    <a:pt x="120000" y="89838"/>
                  </a:lnTo>
                  <a:lnTo>
                    <a:pt x="60000" y="120000"/>
                  </a:lnTo>
                  <a:lnTo>
                    <a:pt x="0" y="89838"/>
                  </a:lnTo>
                  <a:lnTo>
                    <a:pt x="0" y="2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95250" y="119063"/>
              <a:ext cx="114300" cy="114300"/>
            </a:xfrm>
            <a:prstGeom prst="ellipse">
              <a:avLst/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152400" y="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20955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A980A334-55C0-FCA8-3D72-443AB94FDDDD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grpSp>
        <p:nvGrpSpPr>
          <p:cNvPr id="169" name="Google Shape;169;p18"/>
          <p:cNvGrpSpPr/>
          <p:nvPr/>
        </p:nvGrpSpPr>
        <p:grpSpPr>
          <a:xfrm>
            <a:off x="8382000" y="457200"/>
            <a:ext cx="304950" cy="352500"/>
            <a:chOff x="0" y="0"/>
            <a:chExt cx="304950" cy="352500"/>
          </a:xfrm>
        </p:grpSpPr>
        <p:sp>
          <p:nvSpPr>
            <p:cNvPr id="170" name="Google Shape;170;p18"/>
            <p:cNvSpPr/>
            <p:nvPr/>
          </p:nvSpPr>
          <p:spPr>
            <a:xfrm>
              <a:off x="0" y="0"/>
              <a:ext cx="304800" cy="3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120000" y="29838"/>
                  </a:lnTo>
                  <a:lnTo>
                    <a:pt x="120000" y="89838"/>
                  </a:lnTo>
                  <a:lnTo>
                    <a:pt x="60000" y="120000"/>
                  </a:lnTo>
                  <a:lnTo>
                    <a:pt x="0" y="89838"/>
                  </a:lnTo>
                  <a:lnTo>
                    <a:pt x="0" y="2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95250" y="119063"/>
              <a:ext cx="114300" cy="114300"/>
            </a:xfrm>
            <a:prstGeom prst="ellipse">
              <a:avLst/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152400" y="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73" name="Google Shape;173;p18"/>
            <p:cNvSpPr/>
            <p:nvPr/>
          </p:nvSpPr>
          <p:spPr>
            <a:xfrm>
              <a:off x="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74" name="Google Shape;174;p18"/>
            <p:cNvSpPr/>
            <p:nvPr/>
          </p:nvSpPr>
          <p:spPr>
            <a:xfrm>
              <a:off x="20955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75" name="Google Shape;175;p18"/>
          <p:cNvSpPr txBox="1"/>
          <p:nvPr/>
        </p:nvSpPr>
        <p:spPr>
          <a:xfrm>
            <a:off x="42332" y="4572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מפץ תודעתי: מעידן התשובות לעידן השאלות</a:t>
            </a:r>
          </a:p>
          <a:p>
            <a:pPr marR="0" lvl="0" indent="0" algn="r" rtl="1">
              <a:spcBef>
                <a:spcPts val="600"/>
              </a:spcBef>
              <a:spcAft>
                <a:spcPts val="1200"/>
              </a:spcAft>
              <a:buNone/>
            </a:pPr>
            <a:r>
              <a:rPr lang="he-IL" sz="1800" b="0" dirty="0" err="1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State</a:t>
            </a: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 </a:t>
            </a:r>
            <a:r>
              <a:rPr lang="he-IL" sz="1800" b="0" dirty="0" err="1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of</a:t>
            </a: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 </a:t>
            </a:r>
            <a:r>
              <a:rPr lang="he-IL" sz="1800" b="0" dirty="0" err="1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Mind</a:t>
            </a: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: </a:t>
            </a:r>
            <a:r>
              <a:rPr lang="he-IL" sz="1800" b="0" dirty="0" err="1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The</a:t>
            </a: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 </a:t>
            </a:r>
            <a:r>
              <a:rPr lang="he-IL" sz="1800" b="0" dirty="0" err="1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Question</a:t>
            </a: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 </a:t>
            </a:r>
            <a:r>
              <a:rPr lang="he-IL" sz="1800" b="0" dirty="0" err="1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Era</a:t>
            </a:r>
            <a:endParaRPr lang="he-IL" sz="1800" b="0" dirty="0">
              <a:solidFill>
                <a:srgbClr val="00E5FF"/>
              </a:solidFill>
              <a:latin typeface="Arial"/>
              <a:ea typeface="Arial"/>
              <a:cs typeface="Arial"/>
              <a:sym typeface="Rubik"/>
            </a:endParaRPr>
          </a:p>
        </p:txBody>
      </p:sp>
      <p:grpSp>
        <p:nvGrpSpPr>
          <p:cNvPr id="176" name="Google Shape;176;p18"/>
          <p:cNvGrpSpPr/>
          <p:nvPr/>
        </p:nvGrpSpPr>
        <p:grpSpPr>
          <a:xfrm>
            <a:off x="457200" y="1524000"/>
            <a:ext cx="3429000" cy="2571900"/>
            <a:chOff x="0" y="0"/>
            <a:chExt cx="3429000" cy="2571900"/>
          </a:xfrm>
        </p:grpSpPr>
        <p:pic>
          <p:nvPicPr>
            <p:cNvPr id="177" name="Google Shape;177;p18" descr="An abstract, cinematic 3D representation of a glowing neural lightbulb merging with a human brain silhouette, constructed from intricate electric cyan nodes and executive gold strategic pathways. Deep navy background with subtle light rays, sophisticated high-tech aesthetic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429000" cy="2571900"/>
            </a:xfrm>
            <a:prstGeom prst="roundRect">
              <a:avLst>
                <a:gd name="adj" fmla="val 4444"/>
              </a:avLst>
            </a:prstGeom>
            <a:noFill/>
            <a:ln>
              <a:noFill/>
            </a:ln>
          </p:spPr>
        </p:pic>
        <p:sp>
          <p:nvSpPr>
            <p:cNvPr id="178" name="Google Shape;178;p18"/>
            <p:cNvSpPr/>
            <p:nvPr/>
          </p:nvSpPr>
          <p:spPr>
            <a:xfrm>
              <a:off x="0" y="0"/>
              <a:ext cx="38100" cy="25719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0" y="0"/>
              <a:ext cx="3429000" cy="2571900"/>
            </a:xfrm>
            <a:prstGeom prst="roundRect">
              <a:avLst>
                <a:gd name="adj" fmla="val 4444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80" name="Google Shape;180;p18"/>
          <p:cNvSpPr txBox="1"/>
          <p:nvPr/>
        </p:nvSpPr>
        <p:spPr>
          <a:xfrm>
            <a:off x="3953933" y="1524000"/>
            <a:ext cx="4637617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457200" lvl="0" indent="317500" algn="r" rtl="1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התיישנות התשובות:</a:t>
            </a:r>
            <a:r>
              <a:rPr lang="he-IL" dirty="0">
                <a:solidFill>
                  <a:srgbClr val="00E5FF"/>
                </a:solidFill>
                <a:latin typeface="Arial"/>
                <a:ea typeface="Arial"/>
                <a:cs typeface="Arial"/>
              </a:rPr>
              <a:t> </a:t>
            </a:r>
            <a:br>
              <a:rPr lang="en" dirty="0">
                <a:solidFill>
                  <a:srgbClr val="00E5FF"/>
                </a:solidFill>
              </a:rPr>
            </a:b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תשובות מוכנות מראש מתיישנות בן-לילה בסביבה דינמית.</a:t>
            </a:r>
            <a:endParaRPr lang="he-IL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457200" lvl="0" indent="317500" algn="r" rtl="1">
              <a:spcBef>
                <a:spcPts val="90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הפרדיגמה החדשה:</a:t>
            </a:r>
            <a:r>
              <a:rPr lang="he-IL" dirty="0">
                <a:solidFill>
                  <a:srgbClr val="00E5FF"/>
                </a:solidFill>
                <a:latin typeface="Arial"/>
                <a:ea typeface="Arial"/>
                <a:cs typeface="Arial"/>
              </a:rPr>
              <a:t> </a:t>
            </a:r>
            <a:br>
              <a:rPr lang="en" dirty="0">
                <a:solidFill>
                  <a:srgbClr val="00E5FF"/>
                </a:solidFill>
              </a:rPr>
            </a:b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המומחיות האמיתית עוברת מהחזקת ידע ליכולת ניסוח שאלות מדויקות.</a:t>
            </a:r>
            <a:endParaRPr lang="he-IL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457200" lvl="0" indent="317500" algn="r" rtl="1">
              <a:spcBef>
                <a:spcPts val="90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המצפן האסטרטגי:</a:t>
            </a:r>
            <a:r>
              <a:rPr lang="he-IL" dirty="0">
                <a:solidFill>
                  <a:srgbClr val="00E5FF"/>
                </a:solidFill>
                <a:latin typeface="Arial"/>
                <a:ea typeface="Arial"/>
                <a:cs typeface="Arial"/>
              </a:rPr>
              <a:t> </a:t>
            </a:r>
            <a:br>
              <a:rPr lang="en" dirty="0">
                <a:solidFill>
                  <a:srgbClr val="00E5FF"/>
                </a:solidFill>
              </a:rPr>
            </a:b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שאלות פורצות דרך הן אלו שמנווטות את הארגון להצלחה עתידית.</a:t>
            </a:r>
            <a:endParaRPr lang="he-IL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457200" lvl="0" indent="317500" algn="r" rtl="1">
              <a:spcBef>
                <a:spcPts val="900"/>
              </a:spcBef>
              <a:spcAft>
                <a:spcPts val="900"/>
              </a:spcAft>
              <a:buClr>
                <a:srgbClr val="00E5FF"/>
              </a:buClr>
              <a:buSzPts val="1400"/>
              <a:buChar char="●"/>
            </a:pPr>
            <a:r>
              <a:rPr lang="he-IL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הובלת שוק:</a:t>
            </a:r>
            <a:r>
              <a:rPr lang="he-IL" dirty="0">
                <a:solidFill>
                  <a:srgbClr val="00E5FF"/>
                </a:solidFill>
                <a:latin typeface="Arial"/>
                <a:ea typeface="Arial"/>
                <a:cs typeface="Arial"/>
              </a:rPr>
              <a:t> </a:t>
            </a:r>
            <a:br>
              <a:rPr lang="en" dirty="0">
                <a:solidFill>
                  <a:srgbClr val="00E5FF"/>
                </a:solidFill>
              </a:rPr>
            </a:b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הארגונים המובילים הם אלו שמעיזים לשאול שאלות שאיש טרם שאל.</a:t>
            </a:r>
            <a:endParaRPr lang="he-IL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82" name="Google Shape;182;p18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2F6BD33B-026D-9B0A-FECD-5250E4187D57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grpSp>
        <p:nvGrpSpPr>
          <p:cNvPr id="190" name="Google Shape;190;p19"/>
          <p:cNvGrpSpPr/>
          <p:nvPr/>
        </p:nvGrpSpPr>
        <p:grpSpPr>
          <a:xfrm>
            <a:off x="8382000" y="457200"/>
            <a:ext cx="304950" cy="352500"/>
            <a:chOff x="0" y="0"/>
            <a:chExt cx="304950" cy="352500"/>
          </a:xfrm>
        </p:grpSpPr>
        <p:sp>
          <p:nvSpPr>
            <p:cNvPr id="191" name="Google Shape;191;p19"/>
            <p:cNvSpPr/>
            <p:nvPr/>
          </p:nvSpPr>
          <p:spPr>
            <a:xfrm>
              <a:off x="0" y="0"/>
              <a:ext cx="304800" cy="3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120000" y="29838"/>
                  </a:lnTo>
                  <a:lnTo>
                    <a:pt x="120000" y="89838"/>
                  </a:lnTo>
                  <a:lnTo>
                    <a:pt x="60000" y="120000"/>
                  </a:lnTo>
                  <a:lnTo>
                    <a:pt x="0" y="89838"/>
                  </a:lnTo>
                  <a:lnTo>
                    <a:pt x="0" y="2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95250" y="119063"/>
              <a:ext cx="114300" cy="114300"/>
            </a:xfrm>
            <a:prstGeom prst="ellipse">
              <a:avLst/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152400" y="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20955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96" name="Google Shape;196;p19"/>
          <p:cNvSpPr txBox="1"/>
          <p:nvPr/>
        </p:nvSpPr>
        <p:spPr>
          <a:xfrm>
            <a:off x="50797" y="457200"/>
            <a:ext cx="77343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החלפת תשתית: עוצמה בסדר גודל של מהפכת החשמל</a:t>
            </a:r>
          </a:p>
          <a:p>
            <a:pPr marR="0" lvl="0" indent="0" algn="r" rtl="1">
              <a:spcBef>
                <a:spcPts val="600"/>
              </a:spcBef>
              <a:spcAft>
                <a:spcPts val="1200"/>
              </a:spcAft>
              <a:buNone/>
            </a:pP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שבירת פרדיגמה טכנולוגית ועסקית ברמה היסטורית</a:t>
            </a:r>
          </a:p>
        </p:txBody>
      </p:sp>
      <p:grpSp>
        <p:nvGrpSpPr>
          <p:cNvPr id="197" name="Google Shape;197;p19"/>
          <p:cNvGrpSpPr/>
          <p:nvPr/>
        </p:nvGrpSpPr>
        <p:grpSpPr>
          <a:xfrm>
            <a:off x="457200" y="1524000"/>
            <a:ext cx="3619500" cy="2667000"/>
            <a:chOff x="0" y="0"/>
            <a:chExt cx="3619500" cy="2667000"/>
          </a:xfrm>
        </p:grpSpPr>
        <p:sp>
          <p:nvSpPr>
            <p:cNvPr id="198" name="Google Shape;198;p19"/>
            <p:cNvSpPr/>
            <p:nvPr/>
          </p:nvSpPr>
          <p:spPr>
            <a:xfrm>
              <a:off x="0" y="0"/>
              <a:ext cx="3619500" cy="2667000"/>
            </a:xfrm>
            <a:prstGeom prst="roundRect">
              <a:avLst>
                <a:gd name="adj" fmla="val 4285"/>
              </a:avLst>
            </a:prstGeom>
            <a:solidFill>
              <a:srgbClr val="1A2333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pic>
          <p:nvPicPr>
            <p:cNvPr id="199" name="Google Shape;199;p19" descr="A cinematic side-by-side conceptual comparison. On the right, a classic vintage Edison lightbulb with a warm glowing filament. On the left, a modern, glowing blue neural network node made of light and energy. Deep navy background, high contrast, executive aesthetic."/>
            <p:cNvPicPr preferRelativeResize="0"/>
            <p:nvPr/>
          </p:nvPicPr>
          <p:blipFill rotWithShape="1">
            <a:blip r:embed="rId3">
              <a:alphaModFix/>
            </a:blip>
            <a:srcRect t="874" b="884"/>
            <a:stretch/>
          </p:blipFill>
          <p:spPr>
            <a:xfrm>
              <a:off x="0" y="0"/>
              <a:ext cx="3619500" cy="2667000"/>
            </a:xfrm>
            <a:prstGeom prst="roundRect">
              <a:avLst>
                <a:gd name="adj" fmla="val 4285"/>
              </a:avLst>
            </a:prstGeom>
            <a:noFill/>
            <a:ln>
              <a:noFill/>
            </a:ln>
          </p:spPr>
        </p:pic>
        <p:sp>
          <p:nvSpPr>
            <p:cNvPr id="200" name="Google Shape;200;p19"/>
            <p:cNvSpPr txBox="1"/>
            <p:nvPr/>
          </p:nvSpPr>
          <p:spPr>
            <a:xfrm>
              <a:off x="0" y="2333625"/>
              <a:ext cx="3619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000" b="0" dirty="0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Assistant"/>
                </a:rPr>
                <a:t>מעבר מעידן החשמל לעידן הבינה</a:t>
              </a:r>
            </a:p>
          </p:txBody>
        </p:sp>
      </p:grpSp>
      <p:sp>
        <p:nvSpPr>
          <p:cNvPr id="201" name="Google Shape;201;p19"/>
          <p:cNvSpPr txBox="1"/>
          <p:nvPr/>
        </p:nvSpPr>
        <p:spPr>
          <a:xfrm>
            <a:off x="4165600" y="1524000"/>
            <a:ext cx="43688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457200" lvl="0" indent="317500" algn="r" rtl="1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שבירת פרדיגמה:</a:t>
            </a: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 החלפת תשתית טכנולוגית ועסקית ברמה היסטורית המשנה את כללי המשחק.</a:t>
            </a:r>
          </a:p>
          <a:p>
            <a:pPr marR="457200" lvl="0" indent="317500" algn="r" rtl="1">
              <a:spcBef>
                <a:spcPts val="90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טרנספורמציה בשוק העבודה:</a:t>
            </a: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 מקצועות ישנים נעלמים מהעולם, בעוד מקצועות והזדמנויות חדשות נולדים.</a:t>
            </a:r>
          </a:p>
          <a:p>
            <a:pPr marR="457200" lvl="0" indent="317500" algn="r" rtl="1">
              <a:spcBef>
                <a:spcPts val="90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חוסר סימטריה:</a:t>
            </a: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 הפער בין המנצחים שיאמצו את התשתית למפסידים שישתרכו מאחור יתרחב דרמטית.</a:t>
            </a:r>
          </a:p>
          <a:p>
            <a:pPr marR="457200" lvl="0" indent="317500" algn="r" rtl="1">
              <a:spcBef>
                <a:spcPts val="900"/>
              </a:spcBef>
              <a:spcAft>
                <a:spcPts val="900"/>
              </a:spcAft>
              <a:buClr>
                <a:srgbClr val="00E5FF"/>
              </a:buClr>
              <a:buSzPts val="1400"/>
              <a:buChar char="●"/>
            </a:pPr>
            <a:r>
              <a:rPr lang="he-IL" sz="1400" b="1" dirty="0">
                <a:solidFill>
                  <a:srgbClr val="FFC107"/>
                </a:solidFill>
                <a:latin typeface="Arial"/>
                <a:ea typeface="Arial"/>
                <a:cs typeface="Arial"/>
                <a:sym typeface="Assistant"/>
              </a:rPr>
              <a:t>עקרון ברזל:</a:t>
            </a: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 </a:t>
            </a:r>
            <a:r>
              <a:rPr lang="he-IL" sz="14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"/>
              </a:rPr>
              <a:t>הסיכון הכרוך בלא לעשות שום דבר הוא הסיכון הגבוה ביותר לארגון.</a:t>
            </a:r>
            <a:endParaRPr lang="he-IL" sz="1400" b="0" dirty="0">
              <a:solidFill>
                <a:srgbClr val="94A3B8"/>
              </a:solidFill>
              <a:latin typeface="Arial"/>
              <a:ea typeface="Arial"/>
              <a:cs typeface="Arial"/>
              <a:sym typeface="Assistant"/>
            </a:endParaRPr>
          </a:p>
        </p:txBody>
      </p:sp>
      <p:cxnSp>
        <p:nvCxnSpPr>
          <p:cNvPr id="203" name="Google Shape;203;p19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6C7578D2-4766-4FA8-7EFC-1673D2780D0D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50797" y="4572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אסטרטגיה אמיתית מול מלכודת האופטימיזציה</a:t>
            </a:r>
          </a:p>
          <a:p>
            <a:pPr marR="0" lvl="0" indent="0" algn="r" rtl="1">
              <a:spcBef>
                <a:spcPts val="600"/>
              </a:spcBef>
              <a:spcAft>
                <a:spcPts val="1200"/>
              </a:spcAft>
              <a:buNone/>
            </a:pP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ההבדל בין שיפור שולי לבין קפיצת מדרגה עסקית</a:t>
            </a:r>
          </a:p>
        </p:txBody>
      </p:sp>
      <p:sp>
        <p:nvSpPr>
          <p:cNvPr id="211" name="Google Shape;211;p20"/>
          <p:cNvSpPr txBox="1"/>
          <p:nvPr/>
        </p:nvSpPr>
        <p:spPr>
          <a:xfrm>
            <a:off x="4457700" y="1524000"/>
            <a:ext cx="409194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457200" lvl="0" indent="317500" algn="r" rtl="1">
              <a:spcBef>
                <a:spcPts val="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5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 SemiBold"/>
              </a:rPr>
              <a:t>ביקורת על 'חוק ה-10-10'</a:t>
            </a:r>
            <a:r>
              <a:rPr lang="he-IL" dirty="0">
                <a:solidFill>
                  <a:srgbClr val="00E5FF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3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אופטימיזציה שולית אינה אסטרטגיה, היא תחזוקה.</a:t>
            </a:r>
            <a:endParaRPr lang="he-IL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457200" lvl="0" indent="317500" algn="r" rtl="1">
              <a:spcBef>
                <a:spcPts val="90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5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 SemiBold"/>
              </a:rPr>
              <a:t>קפיצות מדרגה (</a:t>
            </a:r>
            <a:r>
              <a:rPr lang="he-IL" sz="1500" b="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ssistant SemiBold"/>
              </a:rPr>
              <a:t>Step-function</a:t>
            </a:r>
            <a:r>
              <a:rPr lang="he-IL" sz="15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 SemiBold"/>
              </a:rPr>
              <a:t>)</a:t>
            </a:r>
            <a:r>
              <a:rPr lang="he-IL" dirty="0">
                <a:solidFill>
                  <a:srgbClr val="00E5FF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3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הבינה המלאכותית דורשת המצאה מחדש של מודלים עסקיים.</a:t>
            </a:r>
            <a:endParaRPr lang="he-IL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457200" lvl="0" indent="317500" algn="r" rtl="1">
              <a:spcBef>
                <a:spcPts val="900"/>
              </a:spcBef>
              <a:spcAft>
                <a:spcPts val="0"/>
              </a:spcAft>
              <a:buClr>
                <a:srgbClr val="00E5FF"/>
              </a:buClr>
              <a:buSzPts val="1400"/>
              <a:buChar char="●"/>
            </a:pPr>
            <a:r>
              <a:rPr lang="he-IL" sz="15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 SemiBold"/>
              </a:rPr>
              <a:t>גלגל התנופה (</a:t>
            </a:r>
            <a:r>
              <a:rPr lang="he-IL" sz="1500" b="0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ssistant SemiBold"/>
              </a:rPr>
              <a:t>Flywheel</a:t>
            </a:r>
            <a:r>
              <a:rPr lang="he-IL" sz="15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 SemiBold"/>
              </a:rPr>
              <a:t>)</a:t>
            </a:r>
            <a:r>
              <a:rPr lang="he-IL" dirty="0">
                <a:solidFill>
                  <a:srgbClr val="00E5FF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3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יצירת רצף פעולות אסטרטגי שמזין ומאיץ את עצמו.</a:t>
            </a:r>
            <a:endParaRPr lang="he-IL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  <a:p>
            <a:pPr marR="457200" lvl="0" indent="317500" algn="r" rtl="1">
              <a:spcBef>
                <a:spcPts val="900"/>
              </a:spcBef>
              <a:spcAft>
                <a:spcPts val="900"/>
              </a:spcAft>
              <a:buClr>
                <a:srgbClr val="00E5FF"/>
              </a:buClr>
              <a:buSzPts val="1400"/>
              <a:buChar char="●"/>
            </a:pPr>
            <a:r>
              <a:rPr lang="he-IL" sz="1500" b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ssistant SemiBold"/>
              </a:rPr>
              <a:t>בידול קטגורי</a:t>
            </a:r>
            <a:r>
              <a:rPr lang="he-IL" dirty="0">
                <a:solidFill>
                  <a:srgbClr val="00E5FF"/>
                </a:solidFill>
                <a:latin typeface="Arial"/>
                <a:ea typeface="Arial"/>
                <a:cs typeface="Arial"/>
              </a:rPr>
              <a:t> </a:t>
            </a:r>
            <a:r>
              <a:rPr lang="he-IL" sz="13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מהו הדבר האחד שנעשה אחרת מכולם כדי להוביל?</a:t>
            </a:r>
            <a:endParaRPr lang="he-IL" dirty="0">
              <a:solidFill>
                <a:srgbClr val="00E5FF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457200" y="1524000"/>
            <a:ext cx="3810000" cy="3143400"/>
            <a:chOff x="0" y="0"/>
            <a:chExt cx="3810000" cy="3143400"/>
          </a:xfrm>
        </p:grpSpPr>
        <p:grpSp>
          <p:nvGrpSpPr>
            <p:cNvPr id="213" name="Google Shape;213;p20"/>
            <p:cNvGrpSpPr/>
            <p:nvPr/>
          </p:nvGrpSpPr>
          <p:grpSpPr>
            <a:xfrm>
              <a:off x="952500" y="0"/>
              <a:ext cx="1905000" cy="1428900"/>
              <a:chOff x="0" y="0"/>
              <a:chExt cx="1905000" cy="1428900"/>
            </a:xfrm>
          </p:grpSpPr>
          <p:sp>
            <p:nvSpPr>
              <p:cNvPr id="214" name="Google Shape;214;p20"/>
              <p:cNvSpPr/>
              <p:nvPr/>
            </p:nvSpPr>
            <p:spPr>
              <a:xfrm>
                <a:off x="0" y="0"/>
                <a:ext cx="1905000" cy="1428900"/>
              </a:xfrm>
              <a:prstGeom prst="roundRect">
                <a:avLst>
                  <a:gd name="adj" fmla="val 5333"/>
                </a:avLst>
              </a:prstGeom>
              <a:solidFill>
                <a:srgbClr val="1A2333"/>
              </a:solidFill>
              <a:ln w="9525" cap="flat" cmpd="sng">
                <a:solidFill>
                  <a:srgbClr val="3341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15" name="Google Shape;215;p20"/>
              <p:cNvSpPr txBox="1"/>
              <p:nvPr/>
            </p:nvSpPr>
            <p:spPr>
              <a:xfrm>
                <a:off x="95250" y="190500"/>
                <a:ext cx="17145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ct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e-IL" sz="4800" b="1" dirty="0">
                    <a:solidFill>
                      <a:srgbClr val="00E5FF"/>
                    </a:solidFill>
                    <a:latin typeface="Arial"/>
                    <a:ea typeface="Arial"/>
                    <a:cs typeface="Arial"/>
                    <a:sym typeface="Rubik"/>
                  </a:rPr>
                  <a:t>70%</a:t>
                </a:r>
              </a:p>
              <a:p>
                <a:pPr marR="0" lvl="0" indent="0" algn="r" rtl="1">
                  <a:spcBef>
                    <a:spcPts val="300"/>
                  </a:spcBef>
                  <a:spcAft>
                    <a:spcPts val="900"/>
                  </a:spcAft>
                  <a:buNone/>
                </a:pPr>
                <a:r>
                  <a:rPr lang="he-IL" sz="1400" b="1" dirty="0">
                    <a:solidFill>
                      <a:srgbClr val="FFC107"/>
                    </a:solidFill>
                    <a:latin typeface="Arial"/>
                    <a:ea typeface="Arial"/>
                    <a:cs typeface="Arial"/>
                    <a:sym typeface="Assistant"/>
                  </a:rPr>
                  <a:t>סף הוודאות המקסימלי</a:t>
                </a:r>
              </a:p>
            </p:txBody>
          </p:sp>
        </p:grpSp>
        <p:grpSp>
          <p:nvGrpSpPr>
            <p:cNvPr id="216" name="Google Shape;216;p20"/>
            <p:cNvGrpSpPr/>
            <p:nvPr/>
          </p:nvGrpSpPr>
          <p:grpSpPr>
            <a:xfrm>
              <a:off x="0" y="1714500"/>
              <a:ext cx="3810000" cy="1428900"/>
              <a:chOff x="0" y="0"/>
              <a:chExt cx="3810000" cy="1428900"/>
            </a:xfrm>
          </p:grpSpPr>
          <p:sp>
            <p:nvSpPr>
              <p:cNvPr id="217" name="Google Shape;217;p20"/>
              <p:cNvSpPr/>
              <p:nvPr/>
            </p:nvSpPr>
            <p:spPr>
              <a:xfrm>
                <a:off x="0" y="0"/>
                <a:ext cx="3810000" cy="1428900"/>
              </a:xfrm>
              <a:prstGeom prst="roundRect">
                <a:avLst>
                  <a:gd name="adj" fmla="val 8000"/>
                </a:avLst>
              </a:prstGeom>
              <a:solidFill>
                <a:srgbClr val="233044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18" name="Google Shape;218;p20"/>
              <p:cNvSpPr/>
              <p:nvPr/>
            </p:nvSpPr>
            <p:spPr>
              <a:xfrm>
                <a:off x="190500" y="1905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0"/>
                    </a:moveTo>
                    <a:lnTo>
                      <a:pt x="0" y="0"/>
                    </a:lnTo>
                    <a:lnTo>
                      <a:pt x="0" y="1200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solidFill>
                <a:srgbClr val="00E5FF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219" name="Google Shape;219;p20"/>
              <p:cNvSpPr txBox="1"/>
              <p:nvPr/>
            </p:nvSpPr>
            <p:spPr>
              <a:xfrm>
                <a:off x="190500" y="190500"/>
                <a:ext cx="34290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he-IL" sz="1870" b="0" i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Rubik"/>
                  </a:rPr>
                  <a:t>"אם הגעת ל-70% ודאות, סימן שקיבלת את ההחלטה מאוחר מדי"</a:t>
                </a:r>
              </a:p>
              <a:p>
                <a:pPr marR="0" lvl="0" indent="0" algn="r" rtl="1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lang="he-IL" sz="1190" b="1" dirty="0">
                    <a:solidFill>
                      <a:srgbClr val="FFC107"/>
                    </a:solidFill>
                    <a:latin typeface="Arial"/>
                    <a:ea typeface="Arial"/>
                    <a:cs typeface="Arial"/>
                    <a:sym typeface="Rubik"/>
                  </a:rPr>
                  <a:t>- </a:t>
                </a:r>
                <a:r>
                  <a:rPr lang="he-IL" sz="1190" b="1" dirty="0" err="1">
                    <a:solidFill>
                      <a:srgbClr val="FFC107"/>
                    </a:solidFill>
                    <a:latin typeface="Arial"/>
                    <a:ea typeface="Arial"/>
                    <a:cs typeface="Arial"/>
                    <a:sym typeface="Rubik"/>
                  </a:rPr>
                  <a:t>ג׳ף</a:t>
                </a:r>
                <a:r>
                  <a:rPr lang="he-IL" sz="1190" b="1" dirty="0">
                    <a:solidFill>
                      <a:srgbClr val="FFC107"/>
                    </a:solidFill>
                    <a:latin typeface="Arial"/>
                    <a:ea typeface="Arial"/>
                    <a:cs typeface="Arial"/>
                    <a:sym typeface="Rubik"/>
                  </a:rPr>
                  <a:t> </a:t>
                </a:r>
                <a:r>
                  <a:rPr lang="he-IL" sz="1190" b="1" dirty="0" err="1">
                    <a:solidFill>
                      <a:srgbClr val="FFC107"/>
                    </a:solidFill>
                    <a:latin typeface="Arial"/>
                    <a:ea typeface="Arial"/>
                    <a:cs typeface="Arial"/>
                    <a:sym typeface="Rubik"/>
                  </a:rPr>
                  <a:t>בזוס</a:t>
                </a:r>
                <a:endParaRPr lang="he-IL" sz="1190" b="1" dirty="0">
                  <a:solidFill>
                    <a:srgbClr val="FFC107"/>
                  </a:solidFill>
                  <a:latin typeface="Arial"/>
                  <a:ea typeface="Arial"/>
                  <a:cs typeface="Arial"/>
                  <a:sym typeface="Rubik"/>
                </a:endParaRPr>
              </a:p>
            </p:txBody>
          </p:sp>
        </p:grpSp>
      </p:grpSp>
      <p:grpSp>
        <p:nvGrpSpPr>
          <p:cNvPr id="220" name="Google Shape;220;p20"/>
          <p:cNvGrpSpPr/>
          <p:nvPr/>
        </p:nvGrpSpPr>
        <p:grpSpPr>
          <a:xfrm>
            <a:off x="8382000" y="457200"/>
            <a:ext cx="243960" cy="282000"/>
            <a:chOff x="0" y="0"/>
            <a:chExt cx="304950" cy="352500"/>
          </a:xfrm>
        </p:grpSpPr>
        <p:sp>
          <p:nvSpPr>
            <p:cNvPr id="221" name="Google Shape;221;p20"/>
            <p:cNvSpPr/>
            <p:nvPr/>
          </p:nvSpPr>
          <p:spPr>
            <a:xfrm>
              <a:off x="0" y="0"/>
              <a:ext cx="304800" cy="3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120000" y="29838"/>
                  </a:lnTo>
                  <a:lnTo>
                    <a:pt x="120000" y="89838"/>
                  </a:lnTo>
                  <a:lnTo>
                    <a:pt x="60000" y="120000"/>
                  </a:lnTo>
                  <a:lnTo>
                    <a:pt x="0" y="89838"/>
                  </a:lnTo>
                  <a:lnTo>
                    <a:pt x="0" y="2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95250" y="119063"/>
              <a:ext cx="114300" cy="114300"/>
            </a:xfrm>
            <a:prstGeom prst="ellipse">
              <a:avLst/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152400" y="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20955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cxnSp>
        <p:nvCxnSpPr>
          <p:cNvPr id="227" name="Google Shape;227;p20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05491DB5-6256-5050-0A28-85B79A6F227B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50798" y="3810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מבחן אסטרטגי במראה (חלק א׳)</a:t>
            </a:r>
          </a:p>
          <a:p>
            <a:pPr marR="0" lvl="0" indent="0" algn="r" rtl="1">
              <a:spcBef>
                <a:spcPts val="600"/>
              </a:spcBef>
              <a:spcAft>
                <a:spcPts val="1200"/>
              </a:spcAft>
              <a:buNone/>
            </a:pP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אמיתות לא נעימות</a:t>
            </a:r>
          </a:p>
        </p:txBody>
      </p:sp>
      <p:grpSp>
        <p:nvGrpSpPr>
          <p:cNvPr id="235" name="Google Shape;235;p21"/>
          <p:cNvGrpSpPr/>
          <p:nvPr/>
        </p:nvGrpSpPr>
        <p:grpSpPr>
          <a:xfrm>
            <a:off x="8382000" y="457200"/>
            <a:ext cx="304950" cy="352500"/>
            <a:chOff x="0" y="0"/>
            <a:chExt cx="304950" cy="352500"/>
          </a:xfrm>
        </p:grpSpPr>
        <p:sp>
          <p:nvSpPr>
            <p:cNvPr id="236" name="Google Shape;236;p21"/>
            <p:cNvSpPr/>
            <p:nvPr/>
          </p:nvSpPr>
          <p:spPr>
            <a:xfrm>
              <a:off x="0" y="0"/>
              <a:ext cx="304800" cy="3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120000" y="29838"/>
                  </a:lnTo>
                  <a:lnTo>
                    <a:pt x="120000" y="89838"/>
                  </a:lnTo>
                  <a:lnTo>
                    <a:pt x="60000" y="120000"/>
                  </a:lnTo>
                  <a:lnTo>
                    <a:pt x="0" y="89838"/>
                  </a:lnTo>
                  <a:lnTo>
                    <a:pt x="0" y="2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95250" y="119063"/>
              <a:ext cx="114300" cy="114300"/>
            </a:xfrm>
            <a:prstGeom prst="ellipse">
              <a:avLst/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152400" y="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20955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42" name="Google Shape;242;p21"/>
          <p:cNvSpPr/>
          <p:nvPr/>
        </p:nvSpPr>
        <p:spPr>
          <a:xfrm>
            <a:off x="4876800" y="1238250"/>
            <a:ext cx="3810000" cy="1047900"/>
          </a:xfrm>
          <a:prstGeom prst="roundRect">
            <a:avLst>
              <a:gd name="adj" fmla="val 7272"/>
            </a:avLst>
          </a:prstGeom>
          <a:solidFill>
            <a:srgbClr val="233044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8153400" y="1524000"/>
            <a:ext cx="304800" cy="304800"/>
          </a:xfrm>
          <a:prstGeom prst="ellipse">
            <a:avLst/>
          </a:prstGeom>
          <a:solidFill>
            <a:srgbClr val="FFC107">
              <a:alpha val="20000"/>
            </a:srgbClr>
          </a:soli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991100" y="1296459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400" b="1" dirty="0">
                <a:solidFill>
                  <a:srgbClr val="FFC107"/>
                </a:solidFill>
                <a:latin typeface="Arial"/>
                <a:ea typeface="Arial"/>
                <a:cs typeface="Arial"/>
                <a:sym typeface="Assistant"/>
              </a:rPr>
              <a:t>שיקוי האמת</a:t>
            </a:r>
          </a:p>
          <a:p>
            <a:pPr marR="0" lvl="0" indent="0" algn="r" rtl="1">
              <a:spcBef>
                <a:spcPts val="300"/>
              </a:spcBef>
              <a:spcAft>
                <a:spcPts val="0"/>
              </a:spcAft>
              <a:buNone/>
            </a:pP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איזה פרויקט בטוח ייכשל לפי העובדים?</a:t>
            </a:r>
          </a:p>
        </p:txBody>
      </p:sp>
      <p:sp>
        <p:nvSpPr>
          <p:cNvPr id="246" name="Google Shape;246;p21"/>
          <p:cNvSpPr/>
          <p:nvPr/>
        </p:nvSpPr>
        <p:spPr>
          <a:xfrm>
            <a:off x="4876800" y="2428875"/>
            <a:ext cx="3810000" cy="1047900"/>
          </a:xfrm>
          <a:prstGeom prst="roundRect">
            <a:avLst>
              <a:gd name="adj" fmla="val 7272"/>
            </a:avLst>
          </a:prstGeom>
          <a:solidFill>
            <a:srgbClr val="233044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8153400" y="2714625"/>
            <a:ext cx="304800" cy="304800"/>
          </a:xfrm>
          <a:prstGeom prst="ellipse">
            <a:avLst/>
          </a:prstGeom>
          <a:solidFill>
            <a:srgbClr val="FFC107">
              <a:alpha val="20000"/>
            </a:srgbClr>
          </a:soli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4991100" y="2487084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400" b="1">
                <a:solidFill>
                  <a:srgbClr val="FFC107"/>
                </a:solidFill>
                <a:latin typeface="Arial"/>
                <a:ea typeface="Arial"/>
                <a:cs typeface="Arial"/>
                <a:sym typeface="Assistant"/>
              </a:rPr>
              <a:t>שחיטת פרות קדושות</a:t>
            </a:r>
          </a:p>
          <a:p>
            <a:pPr marR="0" lvl="0" indent="0" algn="r" rtl="1">
              <a:spcBef>
                <a:spcPts val="300"/>
              </a:spcBef>
              <a:spcAft>
                <a:spcPts val="0"/>
              </a:spcAft>
              <a:buNone/>
            </a:pPr>
            <a:r>
              <a:rPr lang="he-IL" sz="1400" b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מה המוצר הראשון שמנכ״ל חדש יסגור?</a:t>
            </a:r>
          </a:p>
        </p:txBody>
      </p:sp>
      <p:sp>
        <p:nvSpPr>
          <p:cNvPr id="250" name="Google Shape;250;p21"/>
          <p:cNvSpPr/>
          <p:nvPr/>
        </p:nvSpPr>
        <p:spPr>
          <a:xfrm>
            <a:off x="4876800" y="3619500"/>
            <a:ext cx="3810000" cy="1047900"/>
          </a:xfrm>
          <a:prstGeom prst="roundRect">
            <a:avLst>
              <a:gd name="adj" fmla="val 7272"/>
            </a:avLst>
          </a:prstGeom>
          <a:solidFill>
            <a:srgbClr val="233044"/>
          </a:solidFill>
          <a:ln w="9525" cap="flat" cmpd="sng">
            <a:solidFill>
              <a:srgbClr val="FFC1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8153400" y="3905250"/>
            <a:ext cx="304800" cy="304800"/>
          </a:xfrm>
          <a:prstGeom prst="ellipse">
            <a:avLst/>
          </a:prstGeom>
          <a:solidFill>
            <a:srgbClr val="FFC107">
              <a:alpha val="20000"/>
            </a:srgbClr>
          </a:soli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991100" y="3677709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400" b="1">
                <a:solidFill>
                  <a:srgbClr val="FFC107"/>
                </a:solidFill>
                <a:latin typeface="Arial"/>
                <a:ea typeface="Arial"/>
                <a:cs typeface="Arial"/>
                <a:sym typeface="Assistant"/>
              </a:rPr>
              <a:t>ביטול המתחרה</a:t>
            </a:r>
          </a:p>
          <a:p>
            <a:pPr marR="0" lvl="0" indent="0" algn="r" rtl="1">
              <a:spcBef>
                <a:spcPts val="300"/>
              </a:spcBef>
              <a:spcAft>
                <a:spcPts val="0"/>
              </a:spcAft>
              <a:buNone/>
            </a:pPr>
            <a:r>
              <a:rPr lang="he-IL" sz="1400" b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איזה מהלך של מתחרה ביטלנו כ״לא מקצועי״ בטעות?</a:t>
            </a:r>
          </a:p>
        </p:txBody>
      </p:sp>
      <p:grpSp>
        <p:nvGrpSpPr>
          <p:cNvPr id="253" name="Google Shape;253;p21"/>
          <p:cNvGrpSpPr/>
          <p:nvPr/>
        </p:nvGrpSpPr>
        <p:grpSpPr>
          <a:xfrm>
            <a:off x="457200" y="1238250"/>
            <a:ext cx="3810000" cy="762000"/>
            <a:chOff x="0" y="0"/>
            <a:chExt cx="3810000" cy="762000"/>
          </a:xfrm>
        </p:grpSpPr>
        <p:sp>
          <p:nvSpPr>
            <p:cNvPr id="254" name="Google Shape;254;p21"/>
            <p:cNvSpPr/>
            <p:nvPr/>
          </p:nvSpPr>
          <p:spPr>
            <a:xfrm>
              <a:off x="0" y="0"/>
              <a:ext cx="3810000" cy="762000"/>
            </a:xfrm>
            <a:prstGeom prst="roundRect">
              <a:avLst>
                <a:gd name="adj" fmla="val 5000"/>
              </a:avLst>
            </a:prstGeom>
            <a:solidFill>
              <a:srgbClr val="FFC107">
                <a:alpha val="10000"/>
              </a:srgbClr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3771900" y="0"/>
              <a:ext cx="38100" cy="762000"/>
            </a:xfrm>
            <a:prstGeom prst="roundRect">
              <a:avLst>
                <a:gd name="adj" fmla="val 50000"/>
              </a:avLst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56" name="Google Shape;256;p21"/>
            <p:cNvSpPr txBox="1"/>
            <p:nvPr/>
          </p:nvSpPr>
          <p:spPr>
            <a:xfrm>
              <a:off x="152400" y="152400"/>
              <a:ext cx="3467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FFC107"/>
                  </a:solidFill>
                  <a:latin typeface="Arial"/>
                  <a:ea typeface="Arial"/>
                  <a:cs typeface="Arial"/>
                  <a:sym typeface="Rubik"/>
                </a:rPr>
                <a:t>דחיפות אסטרטגית</a:t>
              </a:r>
            </a:p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התמודדות עם המציאות כפי שהיא, ללא פילטרים ארגוניים.</a:t>
              </a:r>
            </a:p>
          </p:txBody>
        </p:sp>
      </p:grpSp>
      <p:grpSp>
        <p:nvGrpSpPr>
          <p:cNvPr id="257" name="Google Shape;257;p21"/>
          <p:cNvGrpSpPr/>
          <p:nvPr/>
        </p:nvGrpSpPr>
        <p:grpSpPr>
          <a:xfrm>
            <a:off x="1387078" y="2885777"/>
            <a:ext cx="1272563" cy="1272565"/>
            <a:chOff x="8930" y="-11162"/>
            <a:chExt cx="212094" cy="212094"/>
          </a:xfrm>
        </p:grpSpPr>
        <p:pic>
          <p:nvPicPr>
            <p:cNvPr id="258" name="Google Shape;258;p2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930" y="84832"/>
              <a:ext cx="116100" cy="11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2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4924" y="84832"/>
              <a:ext cx="116100" cy="11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924" y="84832"/>
              <a:ext cx="20100" cy="11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4740" y="-11162"/>
              <a:ext cx="98100" cy="1161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63" name="Google Shape;263;p21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B519E6D6-9C4C-AF2B-C219-93CACFCBC199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70" name="Google Shape;270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B0F19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272" name="Google Shape;272;p22"/>
          <p:cNvGrpSpPr/>
          <p:nvPr/>
        </p:nvGrpSpPr>
        <p:grpSpPr>
          <a:xfrm>
            <a:off x="1482328" y="2504777"/>
            <a:ext cx="1272563" cy="1272565"/>
            <a:chOff x="8930" y="-11162"/>
            <a:chExt cx="212094" cy="212094"/>
          </a:xfrm>
        </p:grpSpPr>
        <p:pic>
          <p:nvPicPr>
            <p:cNvPr id="273" name="Google Shape;273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930" y="84832"/>
              <a:ext cx="116100" cy="11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4924" y="84832"/>
              <a:ext cx="116100" cy="11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2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04924" y="84832"/>
              <a:ext cx="20100" cy="11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4740" y="-11162"/>
              <a:ext cx="98100" cy="116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2"/>
          <p:cNvSpPr txBox="1"/>
          <p:nvPr/>
        </p:nvSpPr>
        <p:spPr>
          <a:xfrm>
            <a:off x="457200" y="4572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600" b="1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מבחן אסטרטגי במראה (חלק ב׳): זווית ראייה חדשה</a:t>
            </a:r>
          </a:p>
          <a:p>
            <a:pPr marR="0" lvl="0" indent="0" algn="r" rtl="1">
              <a:spcBef>
                <a:spcPts val="600"/>
              </a:spcBef>
              <a:spcAft>
                <a:spcPts val="1200"/>
              </a:spcAft>
              <a:buNone/>
            </a:pPr>
            <a:r>
              <a:rPr lang="he-IL" sz="1800" b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ארבע שאלות של אמת לאסטרטגיה הארגונית</a:t>
            </a:r>
          </a:p>
        </p:txBody>
      </p:sp>
      <p:grpSp>
        <p:nvGrpSpPr>
          <p:cNvPr id="279" name="Google Shape;279;p22"/>
          <p:cNvGrpSpPr/>
          <p:nvPr/>
        </p:nvGrpSpPr>
        <p:grpSpPr>
          <a:xfrm>
            <a:off x="4876800" y="1524000"/>
            <a:ext cx="3810000" cy="1143000"/>
            <a:chOff x="0" y="0"/>
            <a:chExt cx="3810000" cy="1143000"/>
          </a:xfrm>
        </p:grpSpPr>
        <p:sp>
          <p:nvSpPr>
            <p:cNvPr id="280" name="Google Shape;280;p22"/>
            <p:cNvSpPr/>
            <p:nvPr/>
          </p:nvSpPr>
          <p:spPr>
            <a:xfrm>
              <a:off x="0" y="0"/>
              <a:ext cx="3810000" cy="1143000"/>
            </a:xfrm>
            <a:prstGeom prst="roundRect">
              <a:avLst>
                <a:gd name="adj" fmla="val 6666"/>
              </a:avLst>
            </a:prstGeom>
            <a:solidFill>
              <a:srgbClr val="233044"/>
            </a:solidFill>
            <a:ln w="9525" cap="flat" cmpd="sng">
              <a:solidFill>
                <a:srgbClr val="FFC1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3276600" y="133350"/>
              <a:ext cx="304800" cy="304800"/>
            </a:xfrm>
            <a:prstGeom prst="ellipse">
              <a:avLst/>
            </a:prstGeom>
            <a:solidFill>
              <a:srgbClr val="FFC10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82" name="Google Shape;282;p22"/>
          <p:cNvSpPr txBox="1"/>
          <p:nvPr/>
        </p:nvSpPr>
        <p:spPr>
          <a:xfrm>
            <a:off x="4991100" y="1604433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400" b="1" dirty="0">
                <a:solidFill>
                  <a:srgbClr val="FFC107"/>
                </a:solidFill>
                <a:latin typeface="Arial"/>
                <a:ea typeface="Arial"/>
                <a:cs typeface="Arial"/>
                <a:sym typeface="Assistant"/>
              </a:rPr>
              <a:t>תרחיש קיצון תקציבי</a:t>
            </a:r>
          </a:p>
          <a:p>
            <a:pPr marR="0" lvl="0" indent="0" algn="r" rtl="1">
              <a:spcBef>
                <a:spcPts val="900"/>
              </a:spcBef>
              <a:spcAft>
                <a:spcPts val="0"/>
              </a:spcAft>
              <a:buNone/>
            </a:pP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תקציב נחתך בחצי - מה מפסיקים לעשות?</a:t>
            </a:r>
          </a:p>
        </p:txBody>
      </p:sp>
      <p:grpSp>
        <p:nvGrpSpPr>
          <p:cNvPr id="284" name="Google Shape;284;p22"/>
          <p:cNvGrpSpPr/>
          <p:nvPr/>
        </p:nvGrpSpPr>
        <p:grpSpPr>
          <a:xfrm>
            <a:off x="4876800" y="2895600"/>
            <a:ext cx="3810000" cy="1143000"/>
            <a:chOff x="0" y="0"/>
            <a:chExt cx="3810000" cy="1143000"/>
          </a:xfrm>
        </p:grpSpPr>
        <p:sp>
          <p:nvSpPr>
            <p:cNvPr id="285" name="Google Shape;285;p22"/>
            <p:cNvSpPr/>
            <p:nvPr/>
          </p:nvSpPr>
          <p:spPr>
            <a:xfrm>
              <a:off x="0" y="0"/>
              <a:ext cx="3810000" cy="1143000"/>
            </a:xfrm>
            <a:prstGeom prst="roundRect">
              <a:avLst>
                <a:gd name="adj" fmla="val 6666"/>
              </a:avLst>
            </a:prstGeom>
            <a:solidFill>
              <a:srgbClr val="233044"/>
            </a:solidFill>
            <a:ln w="9525" cap="flat" cmpd="sng">
              <a:solidFill>
                <a:srgbClr val="FFC1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86" name="Google Shape;286;p22"/>
            <p:cNvSpPr/>
            <p:nvPr/>
          </p:nvSpPr>
          <p:spPr>
            <a:xfrm>
              <a:off x="3276600" y="133350"/>
              <a:ext cx="304800" cy="304800"/>
            </a:xfrm>
            <a:prstGeom prst="ellipse">
              <a:avLst/>
            </a:prstGeom>
            <a:solidFill>
              <a:srgbClr val="FFC10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87" name="Google Shape;287;p22"/>
          <p:cNvSpPr txBox="1"/>
          <p:nvPr/>
        </p:nvSpPr>
        <p:spPr>
          <a:xfrm>
            <a:off x="4991100" y="2976033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400" b="1">
                <a:solidFill>
                  <a:srgbClr val="FFC107"/>
                </a:solidFill>
                <a:latin typeface="Arial"/>
                <a:ea typeface="Arial"/>
                <a:cs typeface="Arial"/>
                <a:sym typeface="Assistant"/>
              </a:rPr>
              <a:t>מבחן העובד הזוטר</a:t>
            </a:r>
          </a:p>
          <a:p>
            <a:pPr marR="0" lvl="0" indent="0" algn="r" rtl="1">
              <a:spcBef>
                <a:spcPts val="900"/>
              </a:spcBef>
              <a:spcAft>
                <a:spcPts val="0"/>
              </a:spcAft>
              <a:buNone/>
            </a:pPr>
            <a:r>
              <a:rPr lang="he-IL" sz="1400" b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האם הוא יודע להסביר את האסטרטגיה?</a:t>
            </a:r>
          </a:p>
        </p:txBody>
      </p:sp>
      <p:grpSp>
        <p:nvGrpSpPr>
          <p:cNvPr id="289" name="Google Shape;289;p22"/>
          <p:cNvGrpSpPr/>
          <p:nvPr/>
        </p:nvGrpSpPr>
        <p:grpSpPr>
          <a:xfrm>
            <a:off x="457200" y="1524000"/>
            <a:ext cx="3810000" cy="1143000"/>
            <a:chOff x="0" y="0"/>
            <a:chExt cx="3810000" cy="1143000"/>
          </a:xfrm>
        </p:grpSpPr>
        <p:sp>
          <p:nvSpPr>
            <p:cNvPr id="290" name="Google Shape;290;p22"/>
            <p:cNvSpPr/>
            <p:nvPr/>
          </p:nvSpPr>
          <p:spPr>
            <a:xfrm>
              <a:off x="0" y="0"/>
              <a:ext cx="3810000" cy="1143000"/>
            </a:xfrm>
            <a:prstGeom prst="roundRect">
              <a:avLst>
                <a:gd name="adj" fmla="val 6666"/>
              </a:avLst>
            </a:prstGeom>
            <a:solidFill>
              <a:srgbClr val="233044"/>
            </a:solidFill>
            <a:ln w="9525" cap="flat" cmpd="sng">
              <a:solidFill>
                <a:srgbClr val="FFC1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3276600" y="133350"/>
              <a:ext cx="304800" cy="304800"/>
            </a:xfrm>
            <a:prstGeom prst="ellipse">
              <a:avLst/>
            </a:prstGeom>
            <a:solidFill>
              <a:srgbClr val="FFC10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92" name="Google Shape;292;p22"/>
          <p:cNvSpPr txBox="1"/>
          <p:nvPr/>
        </p:nvSpPr>
        <p:spPr>
          <a:xfrm>
            <a:off x="571500" y="1604433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400" b="1" dirty="0">
                <a:solidFill>
                  <a:srgbClr val="FFC107"/>
                </a:solidFill>
                <a:latin typeface="Arial"/>
                <a:ea typeface="Arial"/>
                <a:cs typeface="Arial"/>
                <a:sym typeface="Assistant"/>
              </a:rPr>
              <a:t>חשיבה צולבת תעשיות</a:t>
            </a:r>
          </a:p>
          <a:p>
            <a:pPr marR="0" lvl="0" indent="0" algn="r" rtl="1">
              <a:spcBef>
                <a:spcPts val="900"/>
              </a:spcBef>
              <a:spcAft>
                <a:spcPts val="0"/>
              </a:spcAft>
              <a:buNone/>
            </a:pP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מה מנהלי </a:t>
            </a:r>
            <a:r>
              <a:rPr lang="he-IL" sz="1400" b="0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גיימינג</a:t>
            </a:r>
            <a:r>
              <a:rPr lang="he-IL" sz="1400" b="0" dirty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 היו עושים אצלנו?</a:t>
            </a:r>
          </a:p>
        </p:txBody>
      </p:sp>
      <p:grpSp>
        <p:nvGrpSpPr>
          <p:cNvPr id="294" name="Google Shape;294;p22"/>
          <p:cNvGrpSpPr/>
          <p:nvPr/>
        </p:nvGrpSpPr>
        <p:grpSpPr>
          <a:xfrm>
            <a:off x="457200" y="2895600"/>
            <a:ext cx="3810000" cy="1143000"/>
            <a:chOff x="0" y="0"/>
            <a:chExt cx="3810000" cy="1143000"/>
          </a:xfrm>
        </p:grpSpPr>
        <p:sp>
          <p:nvSpPr>
            <p:cNvPr id="295" name="Google Shape;295;p22"/>
            <p:cNvSpPr/>
            <p:nvPr/>
          </p:nvSpPr>
          <p:spPr>
            <a:xfrm>
              <a:off x="0" y="0"/>
              <a:ext cx="3810000" cy="1143000"/>
            </a:xfrm>
            <a:prstGeom prst="roundRect">
              <a:avLst>
                <a:gd name="adj" fmla="val 6666"/>
              </a:avLst>
            </a:prstGeom>
            <a:solidFill>
              <a:srgbClr val="233044"/>
            </a:solidFill>
            <a:ln w="9525" cap="flat" cmpd="sng">
              <a:solidFill>
                <a:srgbClr val="FFC10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3276600" y="133350"/>
              <a:ext cx="304800" cy="304800"/>
            </a:xfrm>
            <a:prstGeom prst="ellipse">
              <a:avLst/>
            </a:prstGeom>
            <a:solidFill>
              <a:srgbClr val="FFC107">
                <a:alpha val="20000"/>
              </a:srgbClr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297" name="Google Shape;297;p22"/>
          <p:cNvSpPr txBox="1"/>
          <p:nvPr/>
        </p:nvSpPr>
        <p:spPr>
          <a:xfrm>
            <a:off x="571500" y="2976033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400" b="1">
                <a:solidFill>
                  <a:srgbClr val="FFC107"/>
                </a:solidFill>
                <a:latin typeface="Arial"/>
                <a:ea typeface="Arial"/>
                <a:cs typeface="Arial"/>
                <a:sym typeface="Assistant"/>
              </a:rPr>
              <a:t>עיני הלקוח</a:t>
            </a:r>
          </a:p>
          <a:p>
            <a:pPr marR="0" lvl="0" indent="0" algn="r" rtl="1">
              <a:spcBef>
                <a:spcPts val="900"/>
              </a:spcBef>
              <a:spcAft>
                <a:spcPts val="0"/>
              </a:spcAft>
              <a:buNone/>
            </a:pPr>
            <a:r>
              <a:rPr lang="he-IL" sz="1400" b="0">
                <a:solidFill>
                  <a:srgbClr val="94A3B8"/>
                </a:solidFill>
                <a:latin typeface="Arial"/>
                <a:ea typeface="Arial"/>
                <a:cs typeface="Arial"/>
                <a:sym typeface="Assistant"/>
              </a:rPr>
              <a:t>פגישה ללא כוונת מכירה.</a:t>
            </a:r>
          </a:p>
        </p:txBody>
      </p:sp>
      <p:cxnSp>
        <p:nvCxnSpPr>
          <p:cNvPr id="299" name="Google Shape;299;p22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DB7C5275-11A8-21A9-0E75-5161FCE7EF36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1A2333">
                  <a:alpha val="80000"/>
                </a:srgbClr>
              </a:gs>
              <a:gs pos="100000">
                <a:srgbClr val="0B0F19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lang="he-IL">
              <a:latin typeface="Arial"/>
              <a:ea typeface="Arial"/>
              <a:cs typeface="Arial"/>
            </a:endParaRPr>
          </a:p>
        </p:txBody>
      </p:sp>
      <p:sp>
        <p:nvSpPr>
          <p:cNvPr id="306" name="Google Shape;306;p23"/>
          <p:cNvSpPr txBox="1"/>
          <p:nvPr/>
        </p:nvSpPr>
        <p:spPr>
          <a:xfrm>
            <a:off x="59265" y="381000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t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Rubik"/>
              </a:rPr>
              <a:t>מפת דרכים ליישום</a:t>
            </a:r>
          </a:p>
          <a:p>
            <a:pPr marR="0" lvl="0" indent="0" algn="r" rtl="1">
              <a:spcBef>
                <a:spcPts val="600"/>
              </a:spcBef>
              <a:spcAft>
                <a:spcPts val="1200"/>
              </a:spcAft>
              <a:buNone/>
            </a:pPr>
            <a:r>
              <a:rPr lang="he-IL" sz="1800" b="0" dirty="0">
                <a:solidFill>
                  <a:srgbClr val="00E5FF"/>
                </a:solidFill>
                <a:latin typeface="Arial"/>
                <a:ea typeface="Arial"/>
                <a:cs typeface="Arial"/>
                <a:sym typeface="Rubik"/>
              </a:rPr>
              <a:t>6 עקרונות להובלת מהפכת AI בארגון</a:t>
            </a:r>
          </a:p>
        </p:txBody>
      </p:sp>
      <p:grpSp>
        <p:nvGrpSpPr>
          <p:cNvPr id="307" name="Google Shape;307;p23"/>
          <p:cNvGrpSpPr/>
          <p:nvPr/>
        </p:nvGrpSpPr>
        <p:grpSpPr>
          <a:xfrm>
            <a:off x="8382000" y="457200"/>
            <a:ext cx="304950" cy="352500"/>
            <a:chOff x="0" y="0"/>
            <a:chExt cx="304950" cy="352500"/>
          </a:xfrm>
        </p:grpSpPr>
        <p:sp>
          <p:nvSpPr>
            <p:cNvPr id="308" name="Google Shape;308;p23"/>
            <p:cNvSpPr/>
            <p:nvPr/>
          </p:nvSpPr>
          <p:spPr>
            <a:xfrm>
              <a:off x="0" y="0"/>
              <a:ext cx="304800" cy="352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0"/>
                  </a:moveTo>
                  <a:lnTo>
                    <a:pt x="120000" y="29838"/>
                  </a:lnTo>
                  <a:lnTo>
                    <a:pt x="120000" y="89838"/>
                  </a:lnTo>
                  <a:lnTo>
                    <a:pt x="60000" y="120000"/>
                  </a:lnTo>
                  <a:lnTo>
                    <a:pt x="0" y="89838"/>
                  </a:lnTo>
                  <a:lnTo>
                    <a:pt x="0" y="29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95250" y="119063"/>
              <a:ext cx="114300" cy="114300"/>
            </a:xfrm>
            <a:prstGeom prst="ellipse">
              <a:avLst/>
            </a:prstGeom>
            <a:solidFill>
              <a:srgbClr val="FFC107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152400" y="0"/>
              <a:ext cx="0" cy="1143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0" y="0"/>
                  </a:moveTo>
                  <a:lnTo>
                    <a:pt x="12000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12" name="Google Shape;312;p23"/>
            <p:cNvSpPr/>
            <p:nvPr/>
          </p:nvSpPr>
          <p:spPr>
            <a:xfrm>
              <a:off x="209550" y="87630"/>
              <a:ext cx="95400" cy="55200"/>
            </a:xfrm>
            <a:custGeom>
              <a:avLst/>
              <a:gdLst/>
              <a:ahLst/>
              <a:cxnLst/>
              <a:rect l="l" t="t" r="r" b="b"/>
              <a:pathLst>
                <a:path w="120000" h="120000" fill="none" extrusionOk="0">
                  <a:moveTo>
                    <a:pt x="120000" y="0"/>
                  </a:moveTo>
                  <a:lnTo>
                    <a:pt x="0" y="120000"/>
                  </a:lnTo>
                </a:path>
              </a:pathLst>
            </a:custGeom>
            <a:solidFill>
              <a:srgbClr val="FFFFFF"/>
            </a:solidFill>
            <a:ln w="14300" cap="flat" cmpd="sng">
              <a:solidFill>
                <a:srgbClr val="00E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313" name="Google Shape;313;p23"/>
          <p:cNvGrpSpPr/>
          <p:nvPr/>
        </p:nvGrpSpPr>
        <p:grpSpPr>
          <a:xfrm>
            <a:off x="6115050" y="1333500"/>
            <a:ext cx="2571900" cy="1524000"/>
            <a:chOff x="0" y="0"/>
            <a:chExt cx="2571900" cy="1524000"/>
          </a:xfrm>
        </p:grpSpPr>
        <p:sp>
          <p:nvSpPr>
            <p:cNvPr id="314" name="Google Shape;314;p23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name="adj" fmla="val 5000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2533650" y="0"/>
              <a:ext cx="38100" cy="15240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16" name="Google Shape;316;p23"/>
            <p:cNvSpPr txBox="1"/>
            <p:nvPr/>
          </p:nvSpPr>
          <p:spPr>
            <a:xfrm>
              <a:off x="152400" y="228600"/>
              <a:ext cx="22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Rubik"/>
                </a:rPr>
                <a:t>01</a:t>
              </a:r>
            </a:p>
            <a:p>
              <a:pPr marR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תחושת דחיפות ושליחות</a:t>
              </a:r>
            </a:p>
            <a:p>
              <a:pPr marR="0" lvl="0" indent="0" algn="r" rtl="1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הבנת הצורך המיידי בשינוי אסטרטגי עמוק.</a:t>
              </a:r>
            </a:p>
          </p:txBody>
        </p:sp>
      </p:grpSp>
      <p:grpSp>
        <p:nvGrpSpPr>
          <p:cNvPr id="317" name="Google Shape;317;p23"/>
          <p:cNvGrpSpPr/>
          <p:nvPr/>
        </p:nvGrpSpPr>
        <p:grpSpPr>
          <a:xfrm>
            <a:off x="3286125" y="1333500"/>
            <a:ext cx="2571900" cy="1524000"/>
            <a:chOff x="0" y="0"/>
            <a:chExt cx="2571900" cy="1524000"/>
          </a:xfrm>
        </p:grpSpPr>
        <p:sp>
          <p:nvSpPr>
            <p:cNvPr id="318" name="Google Shape;318;p23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name="adj" fmla="val 5000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19" name="Google Shape;319;p23"/>
            <p:cNvSpPr/>
            <p:nvPr/>
          </p:nvSpPr>
          <p:spPr>
            <a:xfrm>
              <a:off x="2533650" y="0"/>
              <a:ext cx="38100" cy="15240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20" name="Google Shape;320;p23"/>
            <p:cNvSpPr txBox="1"/>
            <p:nvPr/>
          </p:nvSpPr>
          <p:spPr>
            <a:xfrm>
              <a:off x="152400" y="228600"/>
              <a:ext cx="22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Rubik"/>
                </a:rPr>
                <a:t>02</a:t>
              </a:r>
            </a:p>
            <a:p>
              <a:pPr marR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מיקוד בלתי מתפשר</a:t>
              </a:r>
            </a:p>
            <a:p>
              <a:pPr marR="0" lvl="0" indent="0" algn="r" rtl="1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בחירת זירות הפעולה בעלות האימפקט הגבוה ביותר.</a:t>
              </a:r>
            </a:p>
          </p:txBody>
        </p:sp>
      </p:grpSp>
      <p:grpSp>
        <p:nvGrpSpPr>
          <p:cNvPr id="321" name="Google Shape;321;p23"/>
          <p:cNvGrpSpPr/>
          <p:nvPr/>
        </p:nvGrpSpPr>
        <p:grpSpPr>
          <a:xfrm>
            <a:off x="457200" y="1333500"/>
            <a:ext cx="2571900" cy="1524000"/>
            <a:chOff x="0" y="0"/>
            <a:chExt cx="2571900" cy="1524000"/>
          </a:xfrm>
        </p:grpSpPr>
        <p:sp>
          <p:nvSpPr>
            <p:cNvPr id="322" name="Google Shape;322;p23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name="adj" fmla="val 5000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23" name="Google Shape;323;p23"/>
            <p:cNvSpPr/>
            <p:nvPr/>
          </p:nvSpPr>
          <p:spPr>
            <a:xfrm>
              <a:off x="2533650" y="0"/>
              <a:ext cx="38100" cy="15240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24" name="Google Shape;324;p23"/>
            <p:cNvSpPr txBox="1"/>
            <p:nvPr/>
          </p:nvSpPr>
          <p:spPr>
            <a:xfrm>
              <a:off x="152400" y="228600"/>
              <a:ext cx="22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Rubik"/>
                </a:rPr>
                <a:t>03</a:t>
              </a:r>
            </a:p>
            <a:p>
              <a:pPr marR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ריאליזם בצד יצירתיות</a:t>
              </a:r>
            </a:p>
            <a:p>
              <a:pPr marR="0" lvl="0" indent="0" algn="r" rtl="1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שילוב חזון חדשני עם הבנה מעמיקה של מגבלות הטכנולוגיה.</a:t>
              </a:r>
            </a:p>
          </p:txBody>
        </p:sp>
      </p:grpSp>
      <p:grpSp>
        <p:nvGrpSpPr>
          <p:cNvPr id="325" name="Google Shape;325;p23"/>
          <p:cNvGrpSpPr/>
          <p:nvPr/>
        </p:nvGrpSpPr>
        <p:grpSpPr>
          <a:xfrm>
            <a:off x="6115050" y="3048000"/>
            <a:ext cx="2571900" cy="1524000"/>
            <a:chOff x="0" y="0"/>
            <a:chExt cx="2571900" cy="1524000"/>
          </a:xfrm>
        </p:grpSpPr>
        <p:sp>
          <p:nvSpPr>
            <p:cNvPr id="326" name="Google Shape;326;p23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name="adj" fmla="val 5000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2533650" y="0"/>
              <a:ext cx="38100" cy="15240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152400" y="228600"/>
              <a:ext cx="22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Rubik"/>
                </a:rPr>
                <a:t>04</a:t>
              </a:r>
            </a:p>
            <a:p>
              <a:pPr marR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מעורבות אישית של הנהלה</a:t>
              </a:r>
            </a:p>
            <a:p>
              <a:pPr marR="0" lvl="0" indent="0" algn="r" rtl="1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מנהיגות שמובילה את המהפכה מלמעלה ומעורבת בפרטים.</a:t>
              </a:r>
            </a:p>
          </p:txBody>
        </p:sp>
      </p:grpSp>
      <p:grpSp>
        <p:nvGrpSpPr>
          <p:cNvPr id="329" name="Google Shape;329;p23"/>
          <p:cNvGrpSpPr/>
          <p:nvPr/>
        </p:nvGrpSpPr>
        <p:grpSpPr>
          <a:xfrm>
            <a:off x="3286125" y="3048000"/>
            <a:ext cx="2571900" cy="1524000"/>
            <a:chOff x="0" y="0"/>
            <a:chExt cx="2571900" cy="1524000"/>
          </a:xfrm>
        </p:grpSpPr>
        <p:sp>
          <p:nvSpPr>
            <p:cNvPr id="330" name="Google Shape;330;p23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name="adj" fmla="val 5000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2533650" y="0"/>
              <a:ext cx="38100" cy="15240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32" name="Google Shape;332;p23"/>
            <p:cNvSpPr txBox="1"/>
            <p:nvPr/>
          </p:nvSpPr>
          <p:spPr>
            <a:xfrm>
              <a:off x="152400" y="228600"/>
              <a:ext cx="22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Rubik"/>
                </a:rPr>
                <a:t>05</a:t>
              </a:r>
            </a:p>
            <a:p>
              <a:pPr marR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אתגור ולחץ חיובי</a:t>
              </a:r>
            </a:p>
            <a:p>
              <a:pPr marR="0" lvl="0" indent="0" algn="r" rtl="1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דחיפת הארגון לקצוות היכולת שלו ביצירת פתרונות AI.</a:t>
              </a:r>
            </a:p>
          </p:txBody>
        </p:sp>
      </p:grpSp>
      <p:grpSp>
        <p:nvGrpSpPr>
          <p:cNvPr id="333" name="Google Shape;333;p23"/>
          <p:cNvGrpSpPr/>
          <p:nvPr/>
        </p:nvGrpSpPr>
        <p:grpSpPr>
          <a:xfrm>
            <a:off x="457200" y="3048000"/>
            <a:ext cx="2571900" cy="1524000"/>
            <a:chOff x="0" y="0"/>
            <a:chExt cx="2571900" cy="1524000"/>
          </a:xfrm>
        </p:grpSpPr>
        <p:sp>
          <p:nvSpPr>
            <p:cNvPr id="334" name="Google Shape;334;p23"/>
            <p:cNvSpPr/>
            <p:nvPr/>
          </p:nvSpPr>
          <p:spPr>
            <a:xfrm>
              <a:off x="0" y="0"/>
              <a:ext cx="2571900" cy="1524000"/>
            </a:xfrm>
            <a:prstGeom prst="roundRect">
              <a:avLst>
                <a:gd name="adj" fmla="val 5000"/>
              </a:avLst>
            </a:prstGeom>
            <a:solidFill>
              <a:srgbClr val="1A2333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2533650" y="0"/>
              <a:ext cx="38100" cy="152400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>
                <a:latin typeface="Arial"/>
                <a:ea typeface="Arial"/>
                <a:cs typeface="Arial"/>
              </a:endParaRPr>
            </a:p>
          </p:txBody>
        </p:sp>
        <p:sp>
          <p:nvSpPr>
            <p:cNvPr id="336" name="Google Shape;336;p23"/>
            <p:cNvSpPr txBox="1"/>
            <p:nvPr/>
          </p:nvSpPr>
          <p:spPr>
            <a:xfrm>
              <a:off x="152400" y="228600"/>
              <a:ext cx="2229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00E5FF"/>
                  </a:solidFill>
                  <a:latin typeface="Arial"/>
                  <a:ea typeface="Arial"/>
                  <a:cs typeface="Arial"/>
                  <a:sym typeface="Rubik"/>
                </a:rPr>
                <a:t>06</a:t>
              </a:r>
            </a:p>
            <a:p>
              <a:pPr marR="0" lvl="0" indent="0" algn="r" rtl="1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he-IL" sz="1400" b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אבני דרך ויעדי ביניים</a:t>
              </a:r>
            </a:p>
            <a:p>
              <a:pPr marR="0" lvl="0" indent="0" algn="r" rtl="1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lang="he-IL" sz="1200" b="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ssistant"/>
                </a:rPr>
                <a:t>פירוק החזון הגדול לצעדים ברי-מדידה וניצחונות קטנים.</a:t>
              </a:r>
            </a:p>
          </p:txBody>
        </p:sp>
      </p:grpSp>
      <p:cxnSp>
        <p:nvCxnSpPr>
          <p:cNvPr id="338" name="Google Shape;338;p23"/>
          <p:cNvCxnSpPr/>
          <p:nvPr/>
        </p:nvCxnSpPr>
        <p:spPr>
          <a:xfrm>
            <a:off x="457200" y="4762500"/>
            <a:ext cx="82296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7B5D16FF-6E77-C85D-D7E9-46363962408A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345" name="Google Shape;345;p24"/>
            <p:cNvGrpSpPr/>
            <p:nvPr/>
          </p:nvGrpSpPr>
          <p:grpSpPr>
            <a:xfrm>
              <a:off x="0" y="0"/>
              <a:ext cx="9144000" cy="5143500"/>
              <a:chOff x="0" y="0"/>
              <a:chExt cx="9144000" cy="5143500"/>
            </a:xfrm>
          </p:grpSpPr>
          <p:sp>
            <p:nvSpPr>
              <p:cNvPr id="346" name="Google Shape;346;p24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0B0F19"/>
              </a:solidFill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47" name="Google Shape;347;p24"/>
              <p:cNvSpPr/>
              <p:nvPr/>
            </p:nvSpPr>
            <p:spPr>
              <a:xfrm>
                <a:off x="0" y="0"/>
                <a:ext cx="9144000" cy="51435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</p:grpSp>
        <p:pic>
          <p:nvPicPr>
            <p:cNvPr id="348" name="Google Shape;348;p24" descr="Cinematic, abstract 3D geometric shapes representing an advanced neural network, glowing electric cyan nodes and converging executive gold lines against a deep navy black background, high contrast, professional and inspiring."/>
            <p:cNvPicPr preferRelativeResize="0"/>
            <p:nvPr/>
          </p:nvPicPr>
          <p:blipFill rotWithShape="1">
            <a:blip r:embed="rId3">
              <a:alphaModFix amt="25000"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9" name="Google Shape;349;p24"/>
            <p:cNvGrpSpPr/>
            <p:nvPr/>
          </p:nvGrpSpPr>
          <p:grpSpPr>
            <a:xfrm>
              <a:off x="8382000" y="457200"/>
              <a:ext cx="304950" cy="352500"/>
              <a:chOff x="0" y="0"/>
              <a:chExt cx="304950" cy="352500"/>
            </a:xfrm>
          </p:grpSpPr>
          <p:sp>
            <p:nvSpPr>
              <p:cNvPr id="350" name="Google Shape;350;p24"/>
              <p:cNvSpPr/>
              <p:nvPr/>
            </p:nvSpPr>
            <p:spPr>
              <a:xfrm>
                <a:off x="0" y="0"/>
                <a:ext cx="304800" cy="352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0"/>
                    </a:moveTo>
                    <a:lnTo>
                      <a:pt x="120000" y="29838"/>
                    </a:lnTo>
                    <a:lnTo>
                      <a:pt x="120000" y="89838"/>
                    </a:lnTo>
                    <a:lnTo>
                      <a:pt x="60000" y="120000"/>
                    </a:lnTo>
                    <a:lnTo>
                      <a:pt x="0" y="89838"/>
                    </a:lnTo>
                    <a:lnTo>
                      <a:pt x="0" y="2983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51" name="Google Shape;351;p24"/>
              <p:cNvSpPr/>
              <p:nvPr/>
            </p:nvSpPr>
            <p:spPr>
              <a:xfrm>
                <a:off x="95250" y="119063"/>
                <a:ext cx="114300" cy="114300"/>
              </a:xfrm>
              <a:prstGeom prst="ellipse">
                <a:avLst/>
              </a:prstGeom>
              <a:solidFill>
                <a:srgbClr val="FFC107"/>
              </a:solidFill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52" name="Google Shape;352;p24"/>
              <p:cNvSpPr/>
              <p:nvPr/>
            </p:nvSpPr>
            <p:spPr>
              <a:xfrm>
                <a:off x="152400" y="0"/>
                <a:ext cx="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FFFFFF"/>
              </a:solidFill>
              <a:ln w="14300" cap="flat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53" name="Google Shape;353;p24"/>
              <p:cNvSpPr/>
              <p:nvPr/>
            </p:nvSpPr>
            <p:spPr>
              <a:xfrm>
                <a:off x="0" y="87630"/>
                <a:ext cx="95400" cy="55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0" y="0"/>
                    </a:moveTo>
                    <a:lnTo>
                      <a:pt x="120000" y="120000"/>
                    </a:lnTo>
                  </a:path>
                </a:pathLst>
              </a:custGeom>
              <a:solidFill>
                <a:srgbClr val="FFFFFF"/>
              </a:solidFill>
              <a:ln w="14300" cap="flat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54" name="Google Shape;354;p24"/>
              <p:cNvSpPr/>
              <p:nvPr/>
            </p:nvSpPr>
            <p:spPr>
              <a:xfrm>
                <a:off x="209550" y="87630"/>
                <a:ext cx="95400" cy="552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fill="none" extrusionOk="0">
                    <a:moveTo>
                      <a:pt x="12000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FFFFFF"/>
              </a:solidFill>
              <a:ln w="14300" cap="flat" cmpd="sng">
                <a:solidFill>
                  <a:srgbClr val="00E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</p:grpSp>
        <p:sp>
          <p:nvSpPr>
            <p:cNvPr id="355" name="Google Shape;355;p24"/>
            <p:cNvSpPr txBox="1"/>
            <p:nvPr/>
          </p:nvSpPr>
          <p:spPr>
            <a:xfrm>
              <a:off x="42332" y="571500"/>
              <a:ext cx="822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ctr" anchorCtr="0">
              <a:noAutofit/>
            </a:bodyPr>
            <a:lstStyle/>
            <a:p>
              <a:pPr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dirty="0">
                  <a:solidFill>
                    <a:srgbClr val="FFC107"/>
                  </a:solidFill>
                  <a:latin typeface="Arial"/>
                  <a:ea typeface="Arial"/>
                  <a:cs typeface="Arial"/>
                  <a:sym typeface="Rubik"/>
                </a:rPr>
                <a:t>מנהיגות בעידן ה-AI</a:t>
              </a:r>
            </a:p>
            <a:p>
              <a:pPr marR="0" lvl="0" indent="0" algn="r" rtl="1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lang="he-IL" sz="3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Rubik"/>
                </a:rPr>
                <a:t>מהישרדות להובלה</a:t>
              </a:r>
            </a:p>
          </p:txBody>
        </p:sp>
        <p:sp>
          <p:nvSpPr>
            <p:cNvPr id="356" name="Google Shape;356;p24"/>
            <p:cNvSpPr txBox="1"/>
            <p:nvPr/>
          </p:nvSpPr>
          <p:spPr>
            <a:xfrm>
              <a:off x="156632" y="2095500"/>
              <a:ext cx="6320368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rtlCol="1" anchor="t" anchorCtr="0">
              <a:noAutofit/>
            </a:bodyPr>
            <a:lstStyle/>
            <a:p>
              <a:pPr marR="457200" lvl="0" indent="317500" algn="r" rtl="1">
                <a:spcBef>
                  <a:spcPts val="0"/>
                </a:spcBef>
                <a:spcAft>
                  <a:spcPts val="0"/>
                </a:spcAft>
                <a:buClr>
                  <a:srgbClr val="00E5FF"/>
                </a:buClr>
                <a:buSzPts val="1400"/>
                <a:buChar char="●"/>
              </a:pPr>
              <a:r>
                <a:rPr lang="he-IL" sz="16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לא לחכות לסערה - לעצב את העתיד.</a:t>
              </a:r>
              <a:endParaRPr lang="he-IL" dirty="0">
                <a:solidFill>
                  <a:srgbClr val="00E5FF"/>
                </a:solidFill>
                <a:latin typeface="Arial"/>
                <a:ea typeface="Arial"/>
                <a:cs typeface="Arial"/>
              </a:endParaRPr>
            </a:p>
            <a:p>
              <a:pPr marR="457200" lvl="0" indent="317500" algn="r" rtl="1">
                <a:spcBef>
                  <a:spcPts val="900"/>
                </a:spcBef>
                <a:spcAft>
                  <a:spcPts val="0"/>
                </a:spcAft>
                <a:buClr>
                  <a:srgbClr val="00E5FF"/>
                </a:buClr>
                <a:buSzPts val="1400"/>
                <a:buChar char="●"/>
              </a:pPr>
              <a:r>
                <a:rPr lang="he-IL" sz="16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שילוב טכנולוגיה עם הניצוץ האנושי (</a:t>
              </a:r>
              <a:r>
                <a:rPr lang="he-IL" sz="1600" dirty="0" err="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Flywheel</a:t>
              </a:r>
              <a:r>
                <a:rPr lang="he-IL" sz="16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).</a:t>
              </a:r>
              <a:endParaRPr lang="he-IL" dirty="0">
                <a:solidFill>
                  <a:srgbClr val="00E5FF"/>
                </a:solidFill>
                <a:latin typeface="Arial"/>
                <a:ea typeface="Arial"/>
                <a:cs typeface="Arial"/>
              </a:endParaRPr>
            </a:p>
            <a:p>
              <a:pPr marR="457200" lvl="0" indent="317500" algn="r" rtl="1">
                <a:spcBef>
                  <a:spcPts val="900"/>
                </a:spcBef>
                <a:spcAft>
                  <a:spcPts val="900"/>
                </a:spcAft>
                <a:buClr>
                  <a:srgbClr val="00E5FF"/>
                </a:buClr>
                <a:buSzPts val="1400"/>
                <a:buChar char="●"/>
              </a:pPr>
              <a:r>
                <a:rPr lang="he-IL" sz="1600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ssistant"/>
                </a:rPr>
                <a:t>להתחיל עכשיו: פחות אופטימיזציה, יותר תעוזה.</a:t>
              </a:r>
              <a:endParaRPr lang="he-IL" dirty="0">
                <a:solidFill>
                  <a:srgbClr val="00E5FF"/>
                </a:solidFill>
                <a:latin typeface="Arial"/>
                <a:ea typeface="Arial"/>
                <a:cs typeface="Arial"/>
              </a:endParaRPr>
            </a:p>
          </p:txBody>
        </p:sp>
        <p:grpSp>
          <p:nvGrpSpPr>
            <p:cNvPr id="357" name="Google Shape;357;p24"/>
            <p:cNvGrpSpPr/>
            <p:nvPr/>
          </p:nvGrpSpPr>
          <p:grpSpPr>
            <a:xfrm>
              <a:off x="457200" y="3619500"/>
              <a:ext cx="8229600" cy="952500"/>
              <a:chOff x="0" y="0"/>
              <a:chExt cx="8229600" cy="952500"/>
            </a:xfrm>
          </p:grpSpPr>
          <p:sp>
            <p:nvSpPr>
              <p:cNvPr id="358" name="Google Shape;358;p24"/>
              <p:cNvSpPr/>
              <p:nvPr/>
            </p:nvSpPr>
            <p:spPr>
              <a:xfrm>
                <a:off x="0" y="0"/>
                <a:ext cx="82296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00E5FF">
                  <a:alpha val="10000"/>
                </a:srgbClr>
              </a:solidFill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59" name="Google Shape;359;p24"/>
              <p:cNvSpPr/>
              <p:nvPr/>
            </p:nvSpPr>
            <p:spPr>
              <a:xfrm>
                <a:off x="8191500" y="0"/>
                <a:ext cx="38100" cy="952500"/>
              </a:xfrm>
              <a:prstGeom prst="roundRect">
                <a:avLst>
                  <a:gd name="adj" fmla="val 50000"/>
                </a:avLst>
              </a:prstGeom>
              <a:solidFill>
                <a:srgbClr val="00E5FF"/>
              </a:solidFill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he-IL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360" name="Google Shape;360;p24"/>
              <p:cNvSpPr txBox="1"/>
              <p:nvPr/>
            </p:nvSpPr>
            <p:spPr>
              <a:xfrm>
                <a:off x="190500" y="238125"/>
                <a:ext cx="7810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rtlCol="1" anchor="ctr" anchorCtr="0">
                <a:noAutofit/>
              </a:bodyPr>
              <a:lstStyle/>
              <a:p>
                <a:pPr marR="0" lvl="0" indent="0" algn="r" rtl="1"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he-IL" sz="2000" b="1" dirty="0">
                    <a:solidFill>
                      <a:srgbClr val="00E5FF"/>
                    </a:solidFill>
                    <a:latin typeface="Arial"/>
                    <a:ea typeface="Arial"/>
                    <a:cs typeface="Arial"/>
                    <a:sym typeface="Rubik"/>
                  </a:rPr>
                  <a:t>״העתיד אינו משהו שקורה לנו - הוא משהו שאנחנו יוצרים.״</a:t>
                </a:r>
              </a:p>
            </p:txBody>
          </p:sp>
        </p:grpSp>
        <p:cxnSp>
          <p:nvCxnSpPr>
            <p:cNvPr id="362" name="Google Shape;362;p24"/>
            <p:cNvCxnSpPr/>
            <p:nvPr/>
          </p:nvCxnSpPr>
          <p:spPr>
            <a:xfrm>
              <a:off x="457200" y="4762500"/>
              <a:ext cx="82296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C72722D4-D96A-8836-D796-1952520179B7}"/>
              </a:ext>
            </a:extLst>
          </p:cNvPr>
          <p:cNvSpPr txBox="1"/>
          <p:nvPr/>
        </p:nvSpPr>
        <p:spPr>
          <a:xfrm>
            <a:off x="457200" y="4857750"/>
            <a:ext cx="8229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rtlCol="1" anchor="ctr" anchorCtr="0">
            <a:noAutofit/>
          </a:bodyPr>
          <a:lstStyle/>
          <a:p>
            <a:pPr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000" b="0" dirty="0">
                <a:solidFill>
                  <a:srgbClr val="64748B"/>
                </a:solidFill>
                <a:latin typeface="Arial"/>
                <a:ea typeface="Arial"/>
                <a:cs typeface="Arial"/>
                <a:sym typeface="Assistant"/>
              </a:rPr>
              <a:t>המסע אל הבינה המלאכותית | אמיר רוזן</a:t>
            </a:r>
            <a:endParaRPr lang="he-IL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777</Words>
  <Application>Microsoft Macintosh PowerPoint</Application>
  <PresentationFormat>On-screen Show (16:9)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Amir Rosen</cp:lastModifiedBy>
  <cp:revision>1</cp:revision>
  <dcterms:modified xsi:type="dcterms:W3CDTF">2026-09-12T12:53:03Z</dcterms:modified>
</cp:coreProperties>
</file>